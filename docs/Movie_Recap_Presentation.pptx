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ea40d7-5ca3-5fb1-466b-ed02da001c63}">
          <p14:sldIdLst>
            <p14:sldId id="256"/>
            <p14:sldId id="257"/>
            <p14:sldId id="258"/>
          </p14:sldIdLst>
        </p14:section>
        <p14:section name="Solution" id="{ef187bd4-389a-fb12-e4a8-ff54776a35f9}">
          <p14:sldIdLst>
            <p14:sldId id="259"/>
            <p14:sldId id="260"/>
            <p14:sldId id="261"/>
            <p14:sldId id="262"/>
          </p14:sldIdLst>
        </p14:section>
        <p14:section name="Method" id="{0b11611f-b259-4596-e2a0-0690b2beaef7}">
          <p14:sldIdLst>
            <p14:sldId id="263"/>
            <p14:sldId id="264"/>
            <p14:sldId id="265"/>
          </p14:sldIdLst>
        </p14:section>
        <p14:section name="Results" id="{ffd0e4da-7ea0-2535-f653-783a674a179b}">
          <p14:sldIdLst>
            <p14:sldId id="266"/>
            <p14:sldId id="267"/>
            <p14:sldId id="268"/>
            <p14:sldId id="269"/>
          </p14:sldIdLst>
        </p14:section>
        <p14:section name="Conclusion" id="{b66e0b1f-028a-81ed-fc37-1af04da22606}">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mn-lt"/>
              </a:defRPr>
            </a:pPr>
            <a:r>
              <a:rPr sz="1200" b="0" i="0" u="none" strike="noStrike">
                <a:solidFill>
                  <a:srgbClr val="2B2B2B"/>
                </a:solidFill>
                <a:latin typeface="+mn-lt"/>
              </a:rPr>
              <a:t>Measured CPU time per stage (minutes)</a:t>
            </a:r>
          </a:p>
        </c:rich>
      </c:tx>
      <c:layout/>
      <c:overlay val="0"/>
    </c:title>
    <c:autoTitleDeleted val="0"/>
    <c:plotArea>
      <c:layout/>
      <c:barChart>
        <c:barDir val="bar"/>
        <c:grouping val="clustered"/>
        <c:varyColors val="0"/>
        <c:ser>
          <c:idx val="0"/>
          <c:order val="0"/>
          <c:tx>
            <c:strRef>
              <c:f>Sheet1!$B$1</c:f>
              <c:strCache>
                <c:ptCount val="1"/>
                <c:pt idx="0">
                  <c:v>minutes</c:v>
                </c:pt>
              </c:strCache>
            </c:strRef>
          </c:tx>
          <c:spPr>
            <a:solidFill>
              <a:srgbClr val="E8A33D"/>
            </a:solidFill>
            <a:effectLst/>
          </c:spPr>
          <c:invertIfNegative val="0"/>
          <c:dLbls>
            <c:numFmt formatCode="#,##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cat>
            <c:multiLvlStrRef>
              <c:f>Sheet1!$A$2:$A$7</c:f>
              <c:multiLvlStrCache>
                <c:ptCount val="6"/>
                <c:lvl>
                  <c:pt idx="0">
                    <c:v>Speech-to-text (Whisper)</c:v>
                  </c:pt>
                  <c:pt idx="1">
                    <c:v>LLM summary (Qwen2.5-7B, v2)</c:v>
                  </c:pt>
                  <c:pt idx="2">
                    <c:v>Multimodal features</c:v>
                  </c:pt>
                  <c:pt idx="3">
                    <c:v>Peaks + segment planning</c:v>
                  </c:pt>
                  <c:pt idx="4">
                    <c:v>OpenCV rendering</c:v>
                  </c:pt>
                  <c:pt idx="5">
                    <c:v>Evaluation (incl. re-ASR)</c:v>
                  </c:pt>
                </c:lvl>
              </c:multiLvlStrCache>
            </c:multiLvlStrRef>
          </c:cat>
          <c:val>
            <c:numRef>
              <c:f>Sheet1!$B$2:$B$7</c:f>
              <c:numCache>
                <c:formatCode>General</c:formatCode>
                <c:ptCount val="6"/>
                <c:pt idx="0">
                  <c:v>21.8</c:v>
                </c:pt>
                <c:pt idx="1">
                  <c:v>32.8</c:v>
                </c:pt>
                <c:pt idx="2">
                  <c:v>2.9</c:v>
                </c:pt>
                <c:pt idx="3">
                  <c:v>0.5</c:v>
                </c:pt>
                <c:pt idx="4">
                  <c:v>1.8</c:v>
                </c:pt>
                <c:pt idx="5">
                  <c:v>4.3</c:v>
                </c:pt>
              </c:numCache>
            </c:numRef>
          </c:val>
        </c:ser>
        <c:dLbls>
          <c:numFmt formatCode="#,##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mn-lt"/>
              </a:defRPr>
            </a:pPr>
            <a:r>
              <a:rPr sz="1200" b="0" i="0" u="none" strike="noStrike">
                <a:solidFill>
                  <a:srgbClr val="2B2B2B"/>
                </a:solidFill>
                <a:latin typeface="+mn-lt"/>
              </a:rPr>
              <a:t>Fusion weights</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E8A33D"/>
            </a:solidFill>
            <a:effectLst/>
          </c:spPr>
          <c:invertIfNegative val="0"/>
          <c:dLbls>
            <c:numFmt formatCode="0.0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cat>
            <c:multiLvlStrRef>
              <c:f>Sheet1!$A$2:$A$6</c:f>
              <c:multiLvlStrCache>
                <c:ptCount val="5"/>
                <c:lvl>
                  <c:pt idx="0">
                    <c:v>Semantic</c:v>
                  </c:pt>
                  <c:pt idx="1">
                    <c:v>Centrality</c:v>
                  </c:pt>
                  <c:pt idx="2">
                    <c:v>Text emotion</c:v>
                  </c:pt>
                  <c:pt idx="3">
                    <c:v>Audio</c:v>
                  </c:pt>
                  <c:pt idx="4">
                    <c:v>Visual</c:v>
                  </c:pt>
                </c:lvl>
              </c:multiLvlStrCache>
            </c:multiLvlStrRef>
          </c:cat>
          <c:val>
            <c:numRef>
              <c:f>Sheet1!$B$2:$B$6</c:f>
              <c:numCache>
                <c:formatCode>General</c:formatCode>
                <c:ptCount val="5"/>
                <c:pt idx="0">
                  <c:v>0.4</c:v>
                </c:pt>
                <c:pt idx="1">
                  <c:v>0.15</c:v>
                </c:pt>
                <c:pt idx="2">
                  <c:v>0.15</c:v>
                </c:pt>
                <c:pt idx="3">
                  <c:v>0.15</c:v>
                </c:pt>
                <c:pt idx="4">
                  <c:v>0.15</c:v>
                </c:pt>
              </c:numCache>
            </c:numRef>
          </c:val>
        </c:ser>
        <c:dLbls>
          <c:numFmt formatCode="0.0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mn-lt"/>
              </a:defRPr>
            </a:pPr>
            <a:r>
              <a:rPr sz="1200" b="0" i="0" u="none" strike="noStrike">
                <a:solidFill>
                  <a:srgbClr val="2B2B2B"/>
                </a:solidFill>
                <a:latin typeface="+mn-lt"/>
              </a:rPr>
              <a:t>BLEU-4 (higher is better)</a:t>
            </a:r>
          </a:p>
        </c:rich>
      </c:tx>
      <c:layout/>
      <c:overlay val="0"/>
    </c:title>
    <c:autoTitleDeleted val="0"/>
    <c:plotArea>
      <c:layout/>
      <c:barChart>
        <c:barDir val="bar"/>
        <c:grouping val="stacked"/>
        <c:varyColors val="0"/>
        <c:ser>
          <c:idx val="0"/>
          <c:order val="0"/>
          <c:tx>
            <c:strRef>
              <c:f>Sheet1!$B$1</c:f>
              <c:strCache>
                <c:ptCount val="1"/>
                <c:pt idx="0">
                  <c:v>Proposed</c:v>
                </c:pt>
              </c:strCache>
            </c:strRef>
          </c:tx>
          <c:spPr>
            <a:solidFill>
              <a:srgbClr val="E8A3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Our story (0.040)</c:v>
                  </c:pt>
                  <c:pt idx="1">
                    <c:v>TextRank (0.021)</c:v>
                  </c:pt>
                  <c:pt idx="2">
                    <c:v>Lead-N (0.016)</c:v>
                  </c:pt>
                  <c:pt idx="3">
                    <c:v>Uniform (0.014)</c:v>
                  </c:pt>
                  <c:pt idx="4">
                    <c:v>Random (0.015)</c:v>
                  </c:pt>
                </c:lvl>
              </c:multiLvlStrCache>
            </c:multiLvlStrRef>
          </c:cat>
          <c:val>
            <c:numRef>
              <c:f>Sheet1!$B$2:$B$6</c:f>
              <c:numCache>
                <c:formatCode>General</c:formatCode>
                <c:ptCount val="5"/>
                <c:pt idx="0">
                  <c:v>0.0403</c:v>
                </c:pt>
                <c:pt idx="1">
                  <c:v>0</c:v>
                </c:pt>
                <c:pt idx="2">
                  <c:v>0</c:v>
                </c:pt>
                <c:pt idx="3">
                  <c:v>0</c:v>
                </c:pt>
                <c:pt idx="4">
                  <c:v>0</c:v>
                </c:pt>
              </c:numCache>
            </c:numRef>
          </c:val>
        </c:ser>
        <c:ser>
          <c:idx val="1"/>
          <c:order val="1"/>
          <c:tx>
            <c:strRef>
              <c:f>Sheet1!$C$1</c:f>
              <c:strCache>
                <c:ptCount val="1"/>
                <c:pt idx="0">
                  <c:v>Baselines</c:v>
                </c:pt>
              </c:strCache>
            </c:strRef>
          </c:tx>
          <c:spPr>
            <a:solidFill>
              <a:srgbClr val="C9C8C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Our story (0.040)</c:v>
                  </c:pt>
                  <c:pt idx="1">
                    <c:v>TextRank (0.021)</c:v>
                  </c:pt>
                  <c:pt idx="2">
                    <c:v>Lead-N (0.016)</c:v>
                  </c:pt>
                  <c:pt idx="3">
                    <c:v>Uniform (0.014)</c:v>
                  </c:pt>
                  <c:pt idx="4">
                    <c:v>Random (0.015)</c:v>
                  </c:pt>
                </c:lvl>
              </c:multiLvlStrCache>
            </c:multiLvlStrRef>
          </c:cat>
          <c:val>
            <c:numRef>
              <c:f>Sheet1!$C$2:$C$6</c:f>
              <c:numCache>
                <c:formatCode>General</c:formatCode>
                <c:ptCount val="5"/>
                <c:pt idx="0">
                  <c:v>0</c:v>
                </c:pt>
                <c:pt idx="1">
                  <c:v>0.0205</c:v>
                </c:pt>
                <c:pt idx="2">
                  <c:v>0.0158</c:v>
                </c:pt>
                <c:pt idx="3">
                  <c:v>0.0141</c:v>
                </c:pt>
                <c:pt idx="4">
                  <c:v>0.0149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mn-lt"/>
              </a:defRPr>
            </a:pPr>
            <a:r>
              <a:rPr sz="1200" b="0" i="0" u="none" strike="noStrike">
                <a:solidFill>
                  <a:srgbClr val="2B2B2B"/>
                </a:solidFill>
                <a:latin typeface="+mn-lt"/>
              </a:rPr>
              <a:t>Semantic similarity to the reference</a:t>
            </a:r>
          </a:p>
        </c:rich>
      </c:tx>
      <c:layout/>
      <c:overlay val="0"/>
    </c:title>
    <c:autoTitleDeleted val="0"/>
    <c:plotArea>
      <c:layout/>
      <c:barChart>
        <c:barDir val="bar"/>
        <c:grouping val="stacked"/>
        <c:varyColors val="0"/>
        <c:ser>
          <c:idx val="0"/>
          <c:order val="0"/>
          <c:tx>
            <c:strRef>
              <c:f>Sheet1!$B$1</c:f>
              <c:strCache>
                <c:ptCount val="1"/>
                <c:pt idx="0">
                  <c:v>Proposed</c:v>
                </c:pt>
              </c:strCache>
            </c:strRef>
          </c:tx>
          <c:spPr>
            <a:solidFill>
              <a:srgbClr val="E8A3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Our story (0.81)</c:v>
                  </c:pt>
                  <c:pt idx="1">
                    <c:v>TextRank (0.45)</c:v>
                  </c:pt>
                  <c:pt idx="2">
                    <c:v>Lead-N (0.31)</c:v>
                  </c:pt>
                  <c:pt idx="3">
                    <c:v>Uniform (0.47)</c:v>
                  </c:pt>
                  <c:pt idx="4">
                    <c:v>Random (0.38)</c:v>
                  </c:pt>
                </c:lvl>
              </c:multiLvlStrCache>
            </c:multiLvlStrRef>
          </c:cat>
          <c:val>
            <c:numRef>
              <c:f>Sheet1!$B$2:$B$6</c:f>
              <c:numCache>
                <c:formatCode>General</c:formatCode>
                <c:ptCount val="5"/>
                <c:pt idx="0">
                  <c:v>0.8097</c:v>
                </c:pt>
                <c:pt idx="1">
                  <c:v>0</c:v>
                </c:pt>
                <c:pt idx="2">
                  <c:v>0</c:v>
                </c:pt>
                <c:pt idx="3">
                  <c:v>0</c:v>
                </c:pt>
                <c:pt idx="4">
                  <c:v>0</c:v>
                </c:pt>
              </c:numCache>
            </c:numRef>
          </c:val>
        </c:ser>
        <c:ser>
          <c:idx val="1"/>
          <c:order val="1"/>
          <c:tx>
            <c:strRef>
              <c:f>Sheet1!$C$1</c:f>
              <c:strCache>
                <c:ptCount val="1"/>
                <c:pt idx="0">
                  <c:v>Baselines</c:v>
                </c:pt>
              </c:strCache>
            </c:strRef>
          </c:tx>
          <c:spPr>
            <a:solidFill>
              <a:srgbClr val="C9C8C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Our story (0.81)</c:v>
                  </c:pt>
                  <c:pt idx="1">
                    <c:v>TextRank (0.45)</c:v>
                  </c:pt>
                  <c:pt idx="2">
                    <c:v>Lead-N (0.31)</c:v>
                  </c:pt>
                  <c:pt idx="3">
                    <c:v>Uniform (0.47)</c:v>
                  </c:pt>
                  <c:pt idx="4">
                    <c:v>Random (0.38)</c:v>
                  </c:pt>
                </c:lvl>
              </c:multiLvlStrCache>
            </c:multiLvlStrRef>
          </c:cat>
          <c:val>
            <c:numRef>
              <c:f>Sheet1!$C$2:$C$6</c:f>
              <c:numCache>
                <c:formatCode>General</c:formatCode>
                <c:ptCount val="5"/>
                <c:pt idx="0">
                  <c:v>0</c:v>
                </c:pt>
                <c:pt idx="1">
                  <c:v>0.4523</c:v>
                </c:pt>
                <c:pt idx="2">
                  <c:v>0.3053</c:v>
                </c:pt>
                <c:pt idx="3">
                  <c:v>0.4652</c:v>
                </c:pt>
                <c:pt idx="4">
                  <c:v>0.3771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Karthikeyan K, and this is my project for Assignment 1 of Module 8, Multimodal AI Systems. The project is a multimodal movie recap system. It takes a full movie from YouTube, processes its video, its audio and its text, writes a short summary story, finds the most important moments with their exact timestamps, and cuts those moments into a recap that runs for less than ten minutes. Everything runs on a normal laptop CPU with open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to state. A feature film takes more than an hour to watch, and often a viewer only wants the story: what happened, and the key scenes. Doing this by hand means watching the film, writing a summary and editing clips together. The assignment asks for an AI system that does it automatically. It has four objectives. First, build a pipeline that processes video, audio and text. Second, use speech-to-text and summarisation to produce a summary story. Third, identify peak points and map them to time indices in the original film. And fourth, extract those segments and join them into a recap under ten minutes, then evaluate the summary with BLEU.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input I chose Detour, a 1945 film noir by Edgar Ulmer. I chose it for three reasons. It is in the public domain, so I can share the recap clips without any copyright problem, which matters because the class discussed that recap videos can be claimed as derivative work. It has a strong plot and a lot of first-person voice-over narration, which is ideal for speech-to-text. And there is a human-written plot summary on Wikipedia, which I use as the reference for BLEU. One practical lesson came up straight away: this YouTube upload carries auto-dubbed audio tracks in several languages, so the downloader explicitly selects the original English track. The numbers on this slide are the final result: a 67-minute film, 946 transcript lines, 24 peak points, and an 8-minute-44-second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and it follows the workflow from the assignment exactly. The YouTube URL is downloaded with yt-dlp. The movie is split into audio and video. The audio becomes a timestamped transcript using Whisper. The transcript becomes a summary story using a local language model. The story is mapped to peak points, the peak points give us time indices, OpenCV extracts the segments, and the segments become the recap, which is then evaluated. The orange line in the middle is what makes it multimodal: alongside the text, the system computes audio arousal with librosa, visual motion and shot cuts with OpenCV, and emotion from the dialogue. These side signals are fused when choosing the peak points. Following what we learned in the Day 4 session, every stage is a separate module that can be tested on its own, and the modalities are combined by post-fusion.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tools. yt-dlp and ffmpeg handle the download and the audio extraction; ffmpeg comes bundled through imageio, so no system install is needed. Speech-to-text uses faster-whisper with the small English Whisper model, quantised to eight-bit integers so it runs on a CPU. The summary uses Qwen 2.5, seven billion parameters, served locally by Ollama at temperature zero for consistent output. Sentence embeddings come from MiniLM, and emotion from a DistilRoBERTa classifier. librosa extracts the audio features, OpenCV does all the frame work, and BLEU is implemented by hand and cross-checked with NLTK and sacreBLEU. Nothing here needs a GPU or a paid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implementation, I followed the instruction to test each component before integrating. There are twenty-seven automated tests. Many of them use a synthetic eight-second movie that I generate with a known hard cut at four seconds and a known loud burst at five seconds, so I can check that shot detection and audio arousal find exactly those moments. Others check the two story checks with hand-made transcripts. Second, the slow stages cache their results as JSON. Transcription takes about 22 minutes and the seven-billion-parameter summary about 33 minutes on my CPU, so caching lets me tune the later stages in minutes. Third, every parameter lives in one config file, so the same pipeline can run on any other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whole film on one time axis. The top panel is audio arousal from librosa: loudness, onset strength and how much the amplitude fluctuates. That last one comes from the class heuristic that a calm speaker has steady amplitude and an agitated one does not. The second panel is visual activity from OpenCV, with 312 detected shot cuts as grey ticks. The third panel is the emotion of every transcript line. The fourth panel fuses these signals, and the numbered dashed lines are the thirteen peak points. The bottom row shows the clips that were extracted. Notice that the peaks cover the whole story, from minute four to minute sixty-three.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summary. The transcript has about nine thousand words, so it is cut into thirteen chunks of about five minutes, and the model always sees the story written so far. For each chunk it first writes short event notes in the form who does what to whom, with a quote from the transcript as evidence, and only then writes two sentences from those notes. An editor pass then reads the whole draft against all the notes and fixes wrong roles and repeated events. After that come two checks that are plain rules, not model guesses. The key-event check looks for lines about a death or a murder; if the story says nothing about them, one short call adds the missing sentence. The character-entry check makes sure no character is named before their name is first spoken. My first version named Vera fourteen minutes too early and left out the climax; these checks fixed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peak points. For each story sentence I need the single moment in the film that shows it. Step one is alignment. The transcript is cut into thirty-second windows, and both the sentences and the windows are embedded. A dynamic-programming alignment picks one window per sentence so that the total similarity is highest and the order stays the same as in the story. You can see it in the heatmap: the orange path climbs from top-left to bottom-right. Without that order constraint, a sentence about the ending could match an early scene just because the same name appears. Step two is peak picking. Around the aligned window, every line gets a fused score: forty percent semantic similarity, and fifteen percent each for importance in the film, emotion, audio arousal and visual activity. The highest score is the peak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one sentence travels through the system. Take story sentence twenty-three: Al kills Vera accidentally, and now the police suspect him of her murder. It came from the last chunk, from one hour one minute to the end. The alignment places it in a thirty-second window, and the fusion picks the narration line, after killing Vera without really meaning to do it, at one hour three minutes nineteen seconds. That Whisper timestamp is the time index. The clip is grown with the surrounding dialogue, snapped to the nearest shot cuts, and becomes one hour three minutes fifteen to one hour three minutes thirty in the film. OpenCV seeks to that exact frame, reads the clip, and writes it into the recap. The keyframes at the bottom are the frames at the first eight peak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output. The recap is eight minutes forty-four seconds long, so it is under the ten-minute limit, and it compresses the film by a factor of about seven point seven. About five and a half minutes are original footage. Before each clip, a chapter card reads out the story sentence, using offline text-to-speech that is loudness-matched to the old soundtrack. During each clip you can see the original timecode, the peak number, a bar along the bottom showing where in the film the clip comes from, and a white flash at the exact peak moment. So the link between the summary, the peak point, the time index and the segment is visible on screen. Let me play the excerpt on this slide: it is chapter twenty-three, the climax, followed by its clip. [Click the video and let it play for about twenty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the summary story is compared with the Wikipedia plot using BLEU, plus ROUGE and embedding similarity, and against four baselines of the same length: an extractive TextRank summary, the first words of the transcript, evenly spaced lines and random lines. The story wins on every metric. BLEU-4 is 0.040 against at most 0.021 for the baselines, BLEU-1 is 0.41, and semantic similarity is 0.81 against at most 0.47. The absolute BLEU is low for every system, and that is expected. BLEU counts exact four-word sequences, and two people summarising the same film rarely use the same phrases. Writing two sentences per chunk brought the story close to the reference length, which raised the brevity penalty from 0.50 to 0.76. So the ranking against baselines and the semantic similarity are the meaningful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BLEU on the summary does not tell us whether the recap actually contains the right scenes. So I added a fidelity check: every clip is cut out of the finished recap and transcribed again, and compared with the original transcript at the mapped timestamps. The mean clip BLEU is 0.73, above the 0.7 threshold discussed in class, and 92 percent of the peak lines are heard in their clips. The narration is recognised almost perfectly. That confirms the timestamp mapping and the audio-video sync end to end. The ablation on the right compares text-only peak selection with the multimodal fusion. Fusion moves thirteen of the twenty-four peaks toward the more dramatic line in the same scene. Emotion intensity rises from 0.50 to 0.77, at some cost in semantic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my experiments on the summary stage, because it has the biggest effect on quality. With the three-billion-parameter model, the story repeated itself and invented events. The seven-billion-parameter model with rolling context, run E, gave a coherent story but named Vera too early and missed the climax. The final version adds grounded notes, the editor and the two checks. It has the best BLEU-4 and ROUGE-L, and it is the only one with a correct climax. One intermediate version reached a higher plot coverage, but only with invented details, so I rejected it after checking the story against the film. Three role errors remain, because the transcript has no speaker labels. TextRank stays as the automatic fallback when no language model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turns a 67-minute YouTube film into an eight-minute-forty-four recap on a CPU, with open models only. The summary beats all baselines, and the recap passes an end-to-end fidelity check. Three observations stand out. First, the time index has to be carried explicitly through every stage; that is what makes the recap traceable. Second, the modalities complement each other: text chooses the scene, while audio, video and emotion choose the moment. Third, simple rule-based checks on the transcript fix errors that the language model cannot see by itself, and BLEU always needs baselines and a factual review beside it. The main limitation is role errors without speaker labels. Next steps would be speaker diarisation, a vision-language model such as CLIP, and a FastAPI service as recommended in class.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414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12064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697480"/>
            <a:ext cx="512064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8A8984"/>
                </a:solidFill>
              </a:rPr>
              <a:t>Multimodal Movie Recap  |  AI11 Module 8</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END">
    <p:bg>
      <p:bgPr>
        <a:solidFill>
          <a:srgbClr val="1414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video" Target="../media/media-11-2.mp4"/><Relationship Id="rId3" Type="http://schemas.microsoft.com/office/2007/relationships/media" Target="../media/media-11-2.mp4"/><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234440"/>
            <a:ext cx="512064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Multimodal Movie Recap</a:t>
            </a:r>
            <a:endParaRPr lang="en-US" sz="3800" dirty="0"/>
          </a:p>
        </p:txBody>
      </p:sp>
      <p:sp>
        <p:nvSpPr>
          <p:cNvPr id="4" name="Text 0"/>
          <p:cNvSpPr/>
          <p:nvPr>
            <p:ph idx="101" type="body" hasCustomPrompt="1"/>
          </p:nvPr>
        </p:nvSpPr>
        <p:spPr>
          <a:xfrm>
            <a:off x="548640" y="2697480"/>
            <a:ext cx="5120640" cy="822960"/>
          </a:xfrm>
          <a:prstGeom prst="rect">
            <a:avLst/>
          </a:prstGeom>
          <a:noFill/>
          <a:ln/>
        </p:spPr>
        <p:txBody>
          <a:bodyPr wrap="square" lIns="0" tIns="0" rIns="0" bIns="0" rtlCol="0" anchor="t"/>
          <a:lstStyle/>
          <a:p>
            <a:pPr algn="l" indent="0" marL="0">
              <a:buNone/>
            </a:pPr>
            <a:r>
              <a:rPr lang="en-US" sz="1600" dirty="0">
                <a:solidFill>
                  <a:schemeClr val="bg2"/>
                </a:solidFill>
              </a:rPr>
              <a:t>YouTube film → summary story → peak points → time index → a recap under 10 minutes</a:t>
            </a:r>
            <a:endParaRPr lang="en-US" sz="1600" dirty="0"/>
          </a:p>
        </p:txBody>
      </p:sp>
      <p:sp>
        <p:nvSpPr>
          <p:cNvPr id="5" name="Text 2"/>
          <p:cNvSpPr txBox="1"/>
          <p:nvPr/>
        </p:nvSpPr>
        <p:spPr>
          <a:xfrm>
            <a:off x="548640" y="3977640"/>
            <a:ext cx="5120640" cy="548640"/>
          </a:xfrm>
          <a:prstGeom prst="rect">
            <a:avLst/>
          </a:prstGeom>
          <a:noFill/>
          <a:ln/>
        </p:spPr>
        <p:txBody>
          <a:bodyPr wrap="square" lIns="0" tIns="0" rIns="0" bIns="0" rtlCol="0" anchor="ctr"/>
          <a:lstStyle/>
          <a:p>
            <a:pPr indent="0" marL="0">
              <a:buNone/>
            </a:pPr>
            <a:r>
              <a:rPr lang="en-US" sz="1100" dirty="0">
                <a:solidFill>
                  <a:schemeClr val="accent5"/>
                </a:solidFill>
              </a:rPr>
              <a:t>AI11 · Module 8 · Multimodal AI Systems: Speech, Text and Conversational Agents · Assignment 1 · Dr. J. B. Simha</a:t>
            </a:r>
            <a:endParaRPr lang="en-US" sz="1100" dirty="0"/>
          </a:p>
        </p:txBody>
      </p:sp>
      <p:sp>
        <p:nvSpPr>
          <p:cNvPr id="6" name="Shape 3"/>
          <p:cNvSpPr/>
          <p:nvPr/>
        </p:nvSpPr>
        <p:spPr>
          <a:xfrm>
            <a:off x="6263640" y="868680"/>
            <a:ext cx="2286000" cy="2286000"/>
          </a:xfrm>
          <a:prstGeom prst="ellipse">
            <a:avLst/>
          </a:prstGeom>
          <a:solidFill>
            <a:schemeClr val="accent1"/>
          </a:solidFill>
          <a:ln w="12700">
            <a:solidFill>
              <a:schemeClr val="accent1"/>
            </a:solidFill>
            <a:prstDash val="solid"/>
          </a:ln>
        </p:spPr>
      </p:sp>
      <p:pic>
        <p:nvPicPr>
          <p:cNvPr id="7" name="Image 0" descr="Photo of the presenter, Karthikeyan K">    </p:cNvPr>
          <p:cNvPicPr>
            <a:picLocks noChangeAspect="1"/>
          </p:cNvPicPr>
          <p:nvPr/>
        </p:nvPicPr>
        <p:blipFill>
          <a:blip r:embed="rId1"/>
          <a:stretch>
            <a:fillRect/>
          </a:stretch>
        </p:blipFill>
        <p:spPr>
          <a:xfrm>
            <a:off x="6336792" y="941832"/>
            <a:ext cx="2139696" cy="2139696"/>
          </a:xfrm>
          <a:prstGeom prst="ellipse">
            <a:avLst/>
          </a:prstGeom>
        </p:spPr>
      </p:pic>
      <p:sp>
        <p:nvSpPr>
          <p:cNvPr id="8" name="Text 4"/>
          <p:cNvSpPr txBox="1"/>
          <p:nvPr/>
        </p:nvSpPr>
        <p:spPr>
          <a:xfrm>
            <a:off x="5806440" y="3291840"/>
            <a:ext cx="32004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Karthikeyan K</a:t>
            </a:r>
            <a:endParaRPr lang="en-US" sz="2000" dirty="0"/>
          </a:p>
        </p:txBody>
      </p:sp>
      <p:sp>
        <p:nvSpPr>
          <p:cNvPr id="9" name="Text 5"/>
          <p:cNvSpPr txBox="1"/>
          <p:nvPr/>
        </p:nvSpPr>
        <p:spPr>
          <a:xfrm>
            <a:off x="5806440" y="3730752"/>
            <a:ext cx="3200400" cy="274320"/>
          </a:xfrm>
          <a:prstGeom prst="rect">
            <a:avLst/>
          </a:prstGeom>
          <a:noFill/>
          <a:ln/>
        </p:spPr>
        <p:txBody>
          <a:bodyPr wrap="square" lIns="0" tIns="0" rIns="0" bIns="0" rtlCol="0" anchor="ctr"/>
          <a:lstStyle/>
          <a:p>
            <a:pPr algn="ctr" indent="0" marL="0">
              <a:buNone/>
            </a:pPr>
            <a:r>
              <a:rPr lang="en-US" sz="1200" dirty="0">
                <a:solidFill>
                  <a:schemeClr val="accent1"/>
                </a:solidFill>
              </a:rPr>
              <a:t>Presenter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Problem statement and objectives</a:t>
            </a:r>
            <a:endParaRPr lang="en-US" sz="2800" dirty="0"/>
          </a:p>
        </p:txBody>
      </p:sp>
      <p:sp>
        <p:nvSpPr>
          <p:cNvPr id="4" name="Shape 1"/>
          <p:cNvSpPr/>
          <p:nvPr/>
        </p:nvSpPr>
        <p:spPr>
          <a:xfrm>
            <a:off x="457200" y="1097280"/>
            <a:ext cx="3749040" cy="3383280"/>
          </a:xfrm>
          <a:prstGeom prst="roundRect">
            <a:avLst>
              <a:gd name="adj" fmla="val 2162"/>
            </a:avLst>
          </a:prstGeom>
          <a:solidFill>
            <a:schemeClr val="bg2"/>
          </a:solidFill>
          <a:ln w="12700">
            <a:solidFill>
              <a:schemeClr val="bg2"/>
            </a:solidFill>
            <a:prstDash val="solid"/>
          </a:ln>
        </p:spPr>
      </p:sp>
      <p:sp>
        <p:nvSpPr>
          <p:cNvPr id="5" name="Text 2"/>
          <p:cNvSpPr txBox="1"/>
          <p:nvPr/>
        </p:nvSpPr>
        <p:spPr>
          <a:xfrm>
            <a:off x="685800" y="1280160"/>
            <a:ext cx="32918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problem</a:t>
            </a:r>
            <a:endParaRPr lang="en-US" sz="1800" dirty="0"/>
          </a:p>
        </p:txBody>
      </p:sp>
      <p:sp>
        <p:nvSpPr>
          <p:cNvPr id="6" name="Text 3"/>
          <p:cNvSpPr txBox="1"/>
          <p:nvPr/>
        </p:nvSpPr>
        <p:spPr>
          <a:xfrm>
            <a:off x="685800" y="1737360"/>
            <a:ext cx="3291840" cy="2560320"/>
          </a:xfrm>
          <a:prstGeom prst="rect">
            <a:avLst/>
          </a:prstGeom>
          <a:noFill/>
          <a:ln/>
        </p:spPr>
        <p:txBody>
          <a:bodyPr wrap="square" lIns="0" tIns="0" rIns="0" bIns="0" rtlCol="0" anchor="t"/>
          <a:lstStyle/>
          <a:p>
            <a:pPr indent="0" marL="0">
              <a:buNone/>
            </a:pPr>
            <a:r>
              <a:rPr lang="en-US" sz="1500" dirty="0">
                <a:solidFill>
                  <a:schemeClr val="tx2"/>
                </a:solidFill>
              </a:rPr>
              <a:t>A feature film takes over an hour to watch. Producing a recap by hand means watching it, writing a summary and editing clips together. The goal is an AI system that does all of this automatically from a YouTube link.</a:t>
            </a:r>
            <a:endParaRPr lang="en-US" sz="1500" dirty="0"/>
          </a:p>
        </p:txBody>
      </p:sp>
      <p:sp>
        <p:nvSpPr>
          <p:cNvPr id="7" name="badge 1"/>
          <p:cNvSpPr/>
          <p:nvPr/>
        </p:nvSpPr>
        <p:spPr>
          <a:xfrm>
            <a:off x="4572000" y="1188720"/>
            <a:ext cx="384048" cy="384048"/>
          </a:xfrm>
          <a:prstGeom prst="ellipse">
            <a:avLst/>
          </a:prstGeom>
          <a:solidFill>
            <a:schemeClr val="accent1"/>
          </a:solidFill>
          <a:ln w="12700">
            <a:solidFill>
              <a:schemeClr val="accent1"/>
            </a:solidFill>
            <a:prstDash val="solid"/>
          </a:ln>
        </p:spPr>
      </p:sp>
      <p:sp>
        <p:nvSpPr>
          <p:cNvPr id="8" name="Text 5"/>
          <p:cNvSpPr txBox="1"/>
          <p:nvPr/>
        </p:nvSpPr>
        <p:spPr>
          <a:xfrm>
            <a:off x="4572000" y="11887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Text 6"/>
          <p:cNvSpPr txBox="1"/>
          <p:nvPr/>
        </p:nvSpPr>
        <p:spPr>
          <a:xfrm>
            <a:off x="5120640" y="1188720"/>
            <a:ext cx="3566160" cy="685800"/>
          </a:xfrm>
          <a:prstGeom prst="rect">
            <a:avLst/>
          </a:prstGeom>
          <a:noFill/>
          <a:ln/>
        </p:spPr>
        <p:txBody>
          <a:bodyPr wrap="square" lIns="0" tIns="0" rIns="0" bIns="0" rtlCol="0" anchor="ctr"/>
          <a:lstStyle/>
          <a:p>
            <a:pPr indent="0" marL="0">
              <a:buNone/>
            </a:pPr>
            <a:r>
              <a:rPr lang="en-US" sz="1500" dirty="0">
                <a:solidFill>
                  <a:schemeClr val="tx2"/>
                </a:solidFill>
              </a:rPr>
              <a:t>Process video, audio and text in one multimodal pipeline</a:t>
            </a:r>
            <a:endParaRPr lang="en-US" sz="1500" dirty="0"/>
          </a:p>
        </p:txBody>
      </p:sp>
      <p:sp>
        <p:nvSpPr>
          <p:cNvPr id="10" name="badge 2"/>
          <p:cNvSpPr/>
          <p:nvPr/>
        </p:nvSpPr>
        <p:spPr>
          <a:xfrm>
            <a:off x="4572000" y="201168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572000" y="20116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ext 9"/>
          <p:cNvSpPr txBox="1"/>
          <p:nvPr/>
        </p:nvSpPr>
        <p:spPr>
          <a:xfrm>
            <a:off x="5120640" y="2011680"/>
            <a:ext cx="3566160" cy="685800"/>
          </a:xfrm>
          <a:prstGeom prst="rect">
            <a:avLst/>
          </a:prstGeom>
          <a:noFill/>
          <a:ln/>
        </p:spPr>
        <p:txBody>
          <a:bodyPr wrap="square" lIns="0" tIns="0" rIns="0" bIns="0" rtlCol="0" anchor="ctr"/>
          <a:lstStyle/>
          <a:p>
            <a:pPr indent="0" marL="0">
              <a:buNone/>
            </a:pPr>
            <a:r>
              <a:rPr lang="en-US" sz="1500" dirty="0">
                <a:solidFill>
                  <a:schemeClr val="tx2"/>
                </a:solidFill>
              </a:rPr>
              <a:t>Speech-to-text + summarisation → a concise summary story</a:t>
            </a:r>
            <a:endParaRPr lang="en-US" sz="1500" dirty="0"/>
          </a:p>
        </p:txBody>
      </p:sp>
      <p:sp>
        <p:nvSpPr>
          <p:cNvPr id="13" name="badge 3"/>
          <p:cNvSpPr/>
          <p:nvPr/>
        </p:nvSpPr>
        <p:spPr>
          <a:xfrm>
            <a:off x="4572000" y="2834640"/>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4572000" y="283464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Text 12"/>
          <p:cNvSpPr txBox="1"/>
          <p:nvPr/>
        </p:nvSpPr>
        <p:spPr>
          <a:xfrm>
            <a:off x="5120640" y="2834640"/>
            <a:ext cx="3566160" cy="685800"/>
          </a:xfrm>
          <a:prstGeom prst="rect">
            <a:avLst/>
          </a:prstGeom>
          <a:noFill/>
          <a:ln/>
        </p:spPr>
        <p:txBody>
          <a:bodyPr wrap="square" lIns="0" tIns="0" rIns="0" bIns="0" rtlCol="0" anchor="ctr"/>
          <a:lstStyle/>
          <a:p>
            <a:pPr indent="0" marL="0">
              <a:buNone/>
            </a:pPr>
            <a:r>
              <a:rPr lang="en-US" sz="1500" dirty="0">
                <a:solidFill>
                  <a:schemeClr val="tx2"/>
                </a:solidFill>
              </a:rPr>
              <a:t>Find peak points and map them to time indices in the film</a:t>
            </a:r>
            <a:endParaRPr lang="en-US" sz="1500" dirty="0"/>
          </a:p>
        </p:txBody>
      </p:sp>
      <p:sp>
        <p:nvSpPr>
          <p:cNvPr id="16" name="badge 4"/>
          <p:cNvSpPr/>
          <p:nvPr/>
        </p:nvSpPr>
        <p:spPr>
          <a:xfrm>
            <a:off x="4572000" y="3657600"/>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4572000" y="36576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8" name="Text 15"/>
          <p:cNvSpPr txBox="1"/>
          <p:nvPr/>
        </p:nvSpPr>
        <p:spPr>
          <a:xfrm>
            <a:off x="5120640" y="3657600"/>
            <a:ext cx="3566160" cy="685800"/>
          </a:xfrm>
          <a:prstGeom prst="rect">
            <a:avLst/>
          </a:prstGeom>
          <a:noFill/>
          <a:ln/>
        </p:spPr>
        <p:txBody>
          <a:bodyPr wrap="square" lIns="0" tIns="0" rIns="0" bIns="0" rtlCol="0" anchor="ctr"/>
          <a:lstStyle/>
          <a:p>
            <a:pPr indent="0" marL="0">
              <a:buNone/>
            </a:pPr>
            <a:r>
              <a:rPr lang="en-US" sz="1500" dirty="0">
                <a:solidFill>
                  <a:schemeClr val="tx2"/>
                </a:solidFill>
              </a:rPr>
              <a:t>Extract the segments (OpenCV) → recap under 10 min, scored with BLEU</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Input: Detour (1945), a public-domain film noir</a:t>
            </a:r>
            <a:endParaRPr lang="en-US" sz="2800" dirty="0"/>
          </a:p>
        </p:txBody>
      </p:sp>
      <p:pic>
        <p:nvPicPr>
          <p:cNvPr id="4" name="Image 0" descr="Intro card of the generated recap">    </p:cNvPr>
          <p:cNvPicPr>
            <a:picLocks noChangeAspect="1"/>
          </p:cNvPicPr>
          <p:nvPr/>
        </p:nvPicPr>
        <p:blipFill>
          <a:blip r:embed="rId1"/>
          <a:stretch>
            <a:fillRect/>
          </a:stretch>
        </p:blipFill>
        <p:spPr>
          <a:xfrm>
            <a:off x="457200" y="1097280"/>
            <a:ext cx="3840480" cy="2880360"/>
          </a:xfrm>
          <a:prstGeom prst="rect">
            <a:avLst/>
          </a:prstGeom>
        </p:spPr>
      </p:pic>
      <p:sp>
        <p:nvSpPr>
          <p:cNvPr id="5" name="Text 1"/>
          <p:cNvSpPr txBox="1"/>
          <p:nvPr/>
        </p:nvSpPr>
        <p:spPr>
          <a:xfrm>
            <a:off x="4572000" y="1143000"/>
            <a:ext cx="4114800" cy="457200"/>
          </a:xfrm>
          <a:prstGeom prst="rect">
            <a:avLst/>
          </a:prstGeom>
          <a:noFill/>
          <a:ln/>
        </p:spPr>
        <p:txBody>
          <a:bodyPr wrap="square" lIns="0" tIns="0" rIns="0" bIns="0" rtlCol="0" anchor="t"/>
          <a:lstStyle/>
          <a:p>
            <a:pPr indent="0" marL="0">
              <a:buNone/>
            </a:pPr>
            <a:r>
              <a:rPr lang="en-US" sz="1400" b="1" dirty="0">
                <a:solidFill>
                  <a:schemeClr val="tx1"/>
                </a:solidFill>
              </a:rPr>
              <a:t>Public domain: </a:t>
            </a:r>
            <a:pPr indent="0" marL="0">
              <a:buNone/>
            </a:pPr>
            <a:r>
              <a:rPr lang="en-US" sz="1400" dirty="0">
                <a:solidFill>
                  <a:schemeClr val="tx2"/>
                </a:solidFill>
              </a:rPr>
              <a:t>recap clips can be shared with no copyright risk</a:t>
            </a:r>
            <a:endParaRPr lang="en-US" sz="1400" dirty="0"/>
          </a:p>
        </p:txBody>
      </p:sp>
      <p:sp>
        <p:nvSpPr>
          <p:cNvPr id="6" name="Text 2"/>
          <p:cNvSpPr txBox="1"/>
          <p:nvPr/>
        </p:nvSpPr>
        <p:spPr>
          <a:xfrm>
            <a:off x="4572000" y="1645920"/>
            <a:ext cx="4114800" cy="457200"/>
          </a:xfrm>
          <a:prstGeom prst="rect">
            <a:avLst/>
          </a:prstGeom>
          <a:noFill/>
          <a:ln/>
        </p:spPr>
        <p:txBody>
          <a:bodyPr wrap="square" lIns="0" tIns="0" rIns="0" bIns="0" rtlCol="0" anchor="t"/>
          <a:lstStyle/>
          <a:p>
            <a:pPr indent="0" marL="0">
              <a:buNone/>
            </a:pPr>
            <a:r>
              <a:rPr lang="en-US" sz="1400" b="1" dirty="0">
                <a:solidFill>
                  <a:schemeClr val="tx1"/>
                </a:solidFill>
              </a:rPr>
              <a:t>Voice-over narration: </a:t>
            </a:r>
            <a:pPr indent="0" marL="0">
              <a:buNone/>
            </a:pPr>
            <a:r>
              <a:rPr lang="en-US" sz="1400" dirty="0">
                <a:solidFill>
                  <a:schemeClr val="tx2"/>
                </a:solidFill>
              </a:rPr>
              <a:t>rich, clear speech for speech-to-text</a:t>
            </a:r>
            <a:endParaRPr lang="en-US" sz="1400" dirty="0"/>
          </a:p>
        </p:txBody>
      </p:sp>
      <p:sp>
        <p:nvSpPr>
          <p:cNvPr id="7" name="Text 3"/>
          <p:cNvSpPr txBox="1"/>
          <p:nvPr/>
        </p:nvSpPr>
        <p:spPr>
          <a:xfrm>
            <a:off x="4572000" y="2148840"/>
            <a:ext cx="4114800" cy="457200"/>
          </a:xfrm>
          <a:prstGeom prst="rect">
            <a:avLst/>
          </a:prstGeom>
          <a:noFill/>
          <a:ln/>
        </p:spPr>
        <p:txBody>
          <a:bodyPr wrap="square" lIns="0" tIns="0" rIns="0" bIns="0" rtlCol="0" anchor="t"/>
          <a:lstStyle/>
          <a:p>
            <a:pPr indent="0" marL="0">
              <a:buNone/>
            </a:pPr>
            <a:r>
              <a:rPr lang="en-US" sz="1400" b="1" dirty="0">
                <a:solidFill>
                  <a:schemeClr val="tx1"/>
                </a:solidFill>
              </a:rPr>
              <a:t>Human reference: </a:t>
            </a:r>
            <a:pPr indent="0" marL="0">
              <a:buNone/>
            </a:pPr>
            <a:r>
              <a:rPr lang="en-US" sz="1400" dirty="0">
                <a:solidFill>
                  <a:schemeClr val="tx2"/>
                </a:solidFill>
              </a:rPr>
              <a:t>Wikipedia plot summary for BLEU</a:t>
            </a:r>
            <a:endParaRPr lang="en-US" sz="1400" dirty="0"/>
          </a:p>
        </p:txBody>
      </p:sp>
      <p:sp>
        <p:nvSpPr>
          <p:cNvPr id="8" name="Text 4"/>
          <p:cNvSpPr txBox="1"/>
          <p:nvPr/>
        </p:nvSpPr>
        <p:spPr>
          <a:xfrm>
            <a:off x="4572000" y="2788920"/>
            <a:ext cx="109728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67:38</a:t>
            </a:r>
            <a:endParaRPr lang="en-US" sz="2800" dirty="0"/>
          </a:p>
        </p:txBody>
      </p:sp>
      <p:sp>
        <p:nvSpPr>
          <p:cNvPr id="9" name="Text 5"/>
          <p:cNvSpPr txBox="1"/>
          <p:nvPr/>
        </p:nvSpPr>
        <p:spPr>
          <a:xfrm>
            <a:off x="4572000" y="3474720"/>
            <a:ext cx="1097280" cy="411480"/>
          </a:xfrm>
          <a:prstGeom prst="rect">
            <a:avLst/>
          </a:prstGeom>
          <a:noFill/>
          <a:ln/>
        </p:spPr>
        <p:txBody>
          <a:bodyPr wrap="square" lIns="0" tIns="0" rIns="0" bIns="0" rtlCol="0" anchor="t"/>
          <a:lstStyle/>
          <a:p>
            <a:pPr indent="0" marL="0">
              <a:buNone/>
            </a:pPr>
            <a:r>
              <a:rPr lang="en-US" sz="1200" dirty="0">
                <a:solidFill>
                  <a:schemeClr val="accent5"/>
                </a:solidFill>
              </a:rPr>
              <a:t>film length</a:t>
            </a:r>
            <a:endParaRPr lang="en-US" sz="1200" dirty="0"/>
          </a:p>
        </p:txBody>
      </p:sp>
      <p:sp>
        <p:nvSpPr>
          <p:cNvPr id="10" name="Text 6"/>
          <p:cNvSpPr txBox="1"/>
          <p:nvPr/>
        </p:nvSpPr>
        <p:spPr>
          <a:xfrm>
            <a:off x="5669280" y="2788920"/>
            <a:ext cx="100584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946</a:t>
            </a:r>
            <a:endParaRPr lang="en-US" sz="2800" dirty="0"/>
          </a:p>
        </p:txBody>
      </p:sp>
      <p:sp>
        <p:nvSpPr>
          <p:cNvPr id="11" name="Text 7"/>
          <p:cNvSpPr txBox="1"/>
          <p:nvPr/>
        </p:nvSpPr>
        <p:spPr>
          <a:xfrm>
            <a:off x="5669280" y="3474720"/>
            <a:ext cx="1005840" cy="411480"/>
          </a:xfrm>
          <a:prstGeom prst="rect">
            <a:avLst/>
          </a:prstGeom>
          <a:noFill/>
          <a:ln/>
        </p:spPr>
        <p:txBody>
          <a:bodyPr wrap="square" lIns="0" tIns="0" rIns="0" bIns="0" rtlCol="0" anchor="t"/>
          <a:lstStyle/>
          <a:p>
            <a:pPr indent="0" marL="0">
              <a:buNone/>
            </a:pPr>
            <a:r>
              <a:rPr lang="en-US" sz="1200" dirty="0">
                <a:solidFill>
                  <a:schemeClr val="accent5"/>
                </a:solidFill>
              </a:rPr>
              <a:t>transcript lines</a:t>
            </a:r>
            <a:endParaRPr lang="en-US" sz="1200" dirty="0"/>
          </a:p>
        </p:txBody>
      </p:sp>
      <p:sp>
        <p:nvSpPr>
          <p:cNvPr id="12" name="Text 8"/>
          <p:cNvSpPr txBox="1"/>
          <p:nvPr/>
        </p:nvSpPr>
        <p:spPr>
          <a:xfrm>
            <a:off x="6675120" y="2788920"/>
            <a:ext cx="9144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24</a:t>
            </a:r>
            <a:endParaRPr lang="en-US" sz="2800" dirty="0"/>
          </a:p>
        </p:txBody>
      </p:sp>
      <p:sp>
        <p:nvSpPr>
          <p:cNvPr id="13" name="Text 9"/>
          <p:cNvSpPr txBox="1"/>
          <p:nvPr/>
        </p:nvSpPr>
        <p:spPr>
          <a:xfrm>
            <a:off x="6675120" y="3474720"/>
            <a:ext cx="914400" cy="411480"/>
          </a:xfrm>
          <a:prstGeom prst="rect">
            <a:avLst/>
          </a:prstGeom>
          <a:noFill/>
          <a:ln/>
        </p:spPr>
        <p:txBody>
          <a:bodyPr wrap="square" lIns="0" tIns="0" rIns="0" bIns="0" rtlCol="0" anchor="t"/>
          <a:lstStyle/>
          <a:p>
            <a:pPr indent="0" marL="0">
              <a:buNone/>
            </a:pPr>
            <a:r>
              <a:rPr lang="en-US" sz="1200" dirty="0">
                <a:solidFill>
                  <a:schemeClr val="accent5"/>
                </a:solidFill>
              </a:rPr>
              <a:t>peak points</a:t>
            </a:r>
            <a:endParaRPr lang="en-US" sz="1200" dirty="0"/>
          </a:p>
        </p:txBody>
      </p:sp>
      <p:sp>
        <p:nvSpPr>
          <p:cNvPr id="14" name="Text 10"/>
          <p:cNvSpPr txBox="1"/>
          <p:nvPr/>
        </p:nvSpPr>
        <p:spPr>
          <a:xfrm>
            <a:off x="7589520" y="2788920"/>
            <a:ext cx="109728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8:44</a:t>
            </a:r>
            <a:endParaRPr lang="en-US" sz="2800" dirty="0"/>
          </a:p>
        </p:txBody>
      </p:sp>
      <p:sp>
        <p:nvSpPr>
          <p:cNvPr id="15" name="Text 11"/>
          <p:cNvSpPr txBox="1"/>
          <p:nvPr/>
        </p:nvSpPr>
        <p:spPr>
          <a:xfrm>
            <a:off x="7589520" y="3474720"/>
            <a:ext cx="1097280" cy="411480"/>
          </a:xfrm>
          <a:prstGeom prst="rect">
            <a:avLst/>
          </a:prstGeom>
          <a:noFill/>
          <a:ln/>
        </p:spPr>
        <p:txBody>
          <a:bodyPr wrap="square" lIns="0" tIns="0" rIns="0" bIns="0" rtlCol="0" anchor="t"/>
          <a:lstStyle/>
          <a:p>
            <a:pPr indent="0" marL="0">
              <a:buNone/>
            </a:pPr>
            <a:r>
              <a:rPr lang="en-US" sz="1200" dirty="0">
                <a:solidFill>
                  <a:schemeClr val="accent5"/>
                </a:solidFill>
              </a:rPr>
              <a:t>recap length</a:t>
            </a:r>
            <a:endParaRPr lang="en-US" sz="1200" dirty="0"/>
          </a:p>
        </p:txBody>
      </p:sp>
      <p:sp>
        <p:nvSpPr>
          <p:cNvPr id="16" name="Text 12"/>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100" dirty="0">
                <a:solidFill>
                  <a:schemeClr val="accent5"/>
                </a:solidFill>
              </a:rPr>
              <a:t>youtube.com/watch?v=tap67KjjPu8  ·  original English audio track selected (upload also carries auto-dubbed tracks)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System architecture and workflow</a:t>
            </a:r>
            <a:endParaRPr lang="en-US" sz="2800" dirty="0"/>
          </a:p>
        </p:txBody>
      </p:sp>
      <p:pic>
        <p:nvPicPr>
          <p:cNvPr id="4" name="Image 0" descr="Pipeline: YouTube URL to evaluation in ten stages">    </p:cNvPr>
          <p:cNvPicPr>
            <a:picLocks noChangeAspect="1"/>
          </p:cNvPicPr>
          <p:nvPr/>
        </p:nvPicPr>
        <p:blipFill>
          <a:blip r:embed="rId1"/>
          <a:stretch>
            <a:fillRect/>
          </a:stretch>
        </p:blipFill>
        <p:spPr>
          <a:xfrm>
            <a:off x="457200" y="1051560"/>
            <a:ext cx="8229600" cy="2468880"/>
          </a:xfrm>
          <a:prstGeom prst="rect">
            <a:avLst/>
          </a:prstGeom>
        </p:spPr>
      </p:pic>
      <p:sp>
        <p:nvSpPr>
          <p:cNvPr id="5" name="Text 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400" b="1" dirty="0">
                <a:solidFill>
                  <a:schemeClr val="tx1"/>
                </a:solidFill>
              </a:rPr>
              <a:t>Post-fusion: </a:t>
            </a:r>
            <a:pPr indent="0" marL="0">
              <a:buNone/>
            </a:pPr>
            <a:r>
              <a:rPr lang="en-US" sz="1400" dirty="0">
                <a:solidFill>
                  <a:schemeClr val="tx2"/>
                </a:solidFill>
              </a:rPr>
              <a:t>audio, video and text-emotion signals are computed independently and combined only when choosing peak points. Every stage is a separate, tested module that caches its output.</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Technologies, models and libraries</a:t>
            </a:r>
            <a:endParaRPr lang="en-US" sz="2800" dirty="0"/>
          </a:p>
        </p:txBody>
      </p:sp>
      <p:sp>
        <p:nvSpPr>
          <p:cNvPr id="4" name="Shape 1"/>
          <p:cNvSpPr/>
          <p:nvPr/>
        </p:nvSpPr>
        <p:spPr>
          <a:xfrm>
            <a:off x="457200" y="1097280"/>
            <a:ext cx="4023360" cy="731520"/>
          </a:xfrm>
          <a:prstGeom prst="roundRect">
            <a:avLst>
              <a:gd name="adj" fmla="val 10000"/>
            </a:avLst>
          </a:prstGeom>
          <a:solidFill>
            <a:schemeClr val="bg2"/>
          </a:solidFill>
          <a:ln w="12700">
            <a:solidFill>
              <a:schemeClr val="bg2"/>
            </a:solidFill>
            <a:prstDash val="solid"/>
          </a:ln>
        </p:spPr>
      </p:sp>
      <p:sp>
        <p:nvSpPr>
          <p:cNvPr id="5" name="Text 2"/>
          <p:cNvSpPr txBox="1"/>
          <p:nvPr/>
        </p:nvSpPr>
        <p:spPr>
          <a:xfrm>
            <a:off x="640080" y="1170432"/>
            <a:ext cx="3657600" cy="292608"/>
          </a:xfrm>
          <a:prstGeom prst="rect">
            <a:avLst/>
          </a:prstGeom>
          <a:noFill/>
          <a:ln/>
        </p:spPr>
        <p:txBody>
          <a:bodyPr wrap="square" lIns="0" tIns="0" rIns="0" bIns="0" rtlCol="0" anchor="t"/>
          <a:lstStyle/>
          <a:p>
            <a:pPr indent="0" marL="0">
              <a:buNone/>
            </a:pPr>
            <a:r>
              <a:rPr lang="en-US" sz="1400" b="1" dirty="0">
                <a:solidFill>
                  <a:schemeClr val="tx1"/>
                </a:solidFill>
              </a:rPr>
              <a:t>Ingest</a:t>
            </a:r>
            <a:endParaRPr lang="en-US" sz="1400" dirty="0"/>
          </a:p>
        </p:txBody>
      </p:sp>
      <p:sp>
        <p:nvSpPr>
          <p:cNvPr id="6" name="Text 3"/>
          <p:cNvSpPr txBox="1"/>
          <p:nvPr/>
        </p:nvSpPr>
        <p:spPr>
          <a:xfrm>
            <a:off x="640080" y="1463040"/>
            <a:ext cx="3657600" cy="310896"/>
          </a:xfrm>
          <a:prstGeom prst="rect">
            <a:avLst/>
          </a:prstGeom>
          <a:noFill/>
          <a:ln/>
        </p:spPr>
        <p:txBody>
          <a:bodyPr wrap="square" lIns="0" tIns="0" rIns="0" bIns="0" rtlCol="0" anchor="t"/>
          <a:lstStyle/>
          <a:p>
            <a:pPr indent="0" marL="0">
              <a:buNone/>
            </a:pPr>
            <a:r>
              <a:rPr lang="en-US" sz="1200" dirty="0">
                <a:solidFill>
                  <a:schemeClr val="tx2"/>
                </a:solidFill>
              </a:rPr>
              <a:t>yt-dlp · ffmpeg (bundled via imageio-ffmpeg)</a:t>
            </a:r>
            <a:endParaRPr lang="en-US" sz="1200" dirty="0"/>
          </a:p>
        </p:txBody>
      </p:sp>
      <p:sp>
        <p:nvSpPr>
          <p:cNvPr id="7" name="Shape 4"/>
          <p:cNvSpPr/>
          <p:nvPr/>
        </p:nvSpPr>
        <p:spPr>
          <a:xfrm>
            <a:off x="4663440" y="1097280"/>
            <a:ext cx="4023360" cy="731520"/>
          </a:xfrm>
          <a:prstGeom prst="roundRect">
            <a:avLst>
              <a:gd name="adj" fmla="val 10000"/>
            </a:avLst>
          </a:prstGeom>
          <a:solidFill>
            <a:schemeClr val="bg2"/>
          </a:solidFill>
          <a:ln w="12700">
            <a:solidFill>
              <a:schemeClr val="bg2"/>
            </a:solidFill>
            <a:prstDash val="solid"/>
          </a:ln>
        </p:spPr>
      </p:sp>
      <p:sp>
        <p:nvSpPr>
          <p:cNvPr id="8" name="Text 5"/>
          <p:cNvSpPr txBox="1"/>
          <p:nvPr/>
        </p:nvSpPr>
        <p:spPr>
          <a:xfrm>
            <a:off x="4846320" y="1170432"/>
            <a:ext cx="3657600" cy="292608"/>
          </a:xfrm>
          <a:prstGeom prst="rect">
            <a:avLst/>
          </a:prstGeom>
          <a:noFill/>
          <a:ln/>
        </p:spPr>
        <p:txBody>
          <a:bodyPr wrap="square" lIns="0" tIns="0" rIns="0" bIns="0" rtlCol="0" anchor="t"/>
          <a:lstStyle/>
          <a:p>
            <a:pPr indent="0" marL="0">
              <a:buNone/>
            </a:pPr>
            <a:r>
              <a:rPr lang="en-US" sz="1400" b="1" dirty="0">
                <a:solidFill>
                  <a:schemeClr val="tx1"/>
                </a:solidFill>
              </a:rPr>
              <a:t>Speech-to-text</a:t>
            </a:r>
            <a:endParaRPr lang="en-US" sz="1400" dirty="0"/>
          </a:p>
        </p:txBody>
      </p:sp>
      <p:sp>
        <p:nvSpPr>
          <p:cNvPr id="9" name="Text 6"/>
          <p:cNvSpPr txBox="1"/>
          <p:nvPr/>
        </p:nvSpPr>
        <p:spPr>
          <a:xfrm>
            <a:off x="4846320" y="1463040"/>
            <a:ext cx="3657600" cy="310896"/>
          </a:xfrm>
          <a:prstGeom prst="rect">
            <a:avLst/>
          </a:prstGeom>
          <a:noFill/>
          <a:ln/>
        </p:spPr>
        <p:txBody>
          <a:bodyPr wrap="square" lIns="0" tIns="0" rIns="0" bIns="0" rtlCol="0" anchor="t"/>
          <a:lstStyle/>
          <a:p>
            <a:pPr indent="0" marL="0">
              <a:buNone/>
            </a:pPr>
            <a:r>
              <a:rPr lang="en-US" sz="1200" dirty="0">
                <a:solidFill>
                  <a:schemeClr val="tx2"/>
                </a:solidFill>
              </a:rPr>
              <a:t>faster-whisper small.en, int8 on CPU, word timestamps</a:t>
            </a:r>
            <a:endParaRPr lang="en-US" sz="1200" dirty="0"/>
          </a:p>
        </p:txBody>
      </p:sp>
      <p:sp>
        <p:nvSpPr>
          <p:cNvPr id="10" name="Shape 7"/>
          <p:cNvSpPr/>
          <p:nvPr/>
        </p:nvSpPr>
        <p:spPr>
          <a:xfrm>
            <a:off x="457200" y="1947672"/>
            <a:ext cx="4023360" cy="731520"/>
          </a:xfrm>
          <a:prstGeom prst="roundRect">
            <a:avLst>
              <a:gd name="adj" fmla="val 10000"/>
            </a:avLst>
          </a:prstGeom>
          <a:solidFill>
            <a:schemeClr val="bg2"/>
          </a:solidFill>
          <a:ln w="12700">
            <a:solidFill>
              <a:schemeClr val="bg2"/>
            </a:solidFill>
            <a:prstDash val="solid"/>
          </a:ln>
        </p:spPr>
      </p:sp>
      <p:sp>
        <p:nvSpPr>
          <p:cNvPr id="11" name="Text 8"/>
          <p:cNvSpPr txBox="1"/>
          <p:nvPr/>
        </p:nvSpPr>
        <p:spPr>
          <a:xfrm>
            <a:off x="640080" y="2020824"/>
            <a:ext cx="3657600" cy="292608"/>
          </a:xfrm>
          <a:prstGeom prst="rect">
            <a:avLst/>
          </a:prstGeom>
          <a:noFill/>
          <a:ln/>
        </p:spPr>
        <p:txBody>
          <a:bodyPr wrap="square" lIns="0" tIns="0" rIns="0" bIns="0" rtlCol="0" anchor="t"/>
          <a:lstStyle/>
          <a:p>
            <a:pPr indent="0" marL="0">
              <a:buNone/>
            </a:pPr>
            <a:r>
              <a:rPr lang="en-US" sz="1400" b="1" dirty="0">
                <a:solidFill>
                  <a:schemeClr val="tx1"/>
                </a:solidFill>
              </a:rPr>
              <a:t>Summary story</a:t>
            </a:r>
            <a:endParaRPr lang="en-US" sz="1400" dirty="0"/>
          </a:p>
        </p:txBody>
      </p:sp>
      <p:sp>
        <p:nvSpPr>
          <p:cNvPr id="12" name="Text 9"/>
          <p:cNvSpPr txBox="1"/>
          <p:nvPr/>
        </p:nvSpPr>
        <p:spPr>
          <a:xfrm>
            <a:off x="640080" y="2313432"/>
            <a:ext cx="3657600" cy="310896"/>
          </a:xfrm>
          <a:prstGeom prst="rect">
            <a:avLst/>
          </a:prstGeom>
          <a:noFill/>
          <a:ln/>
        </p:spPr>
        <p:txBody>
          <a:bodyPr wrap="square" lIns="0" tIns="0" rIns="0" bIns="0" rtlCol="0" anchor="t"/>
          <a:lstStyle/>
          <a:p>
            <a:pPr indent="0" marL="0">
              <a:buNone/>
            </a:pPr>
            <a:r>
              <a:rPr lang="en-US" sz="1200" dirty="0">
                <a:solidFill>
                  <a:schemeClr val="tx2"/>
                </a:solidFill>
              </a:rPr>
              <a:t>Qwen2.5-7B-Instruct via Ollama, temperature 0</a:t>
            </a:r>
            <a:endParaRPr lang="en-US" sz="1200" dirty="0"/>
          </a:p>
        </p:txBody>
      </p:sp>
      <p:sp>
        <p:nvSpPr>
          <p:cNvPr id="13" name="Shape 10"/>
          <p:cNvSpPr/>
          <p:nvPr/>
        </p:nvSpPr>
        <p:spPr>
          <a:xfrm>
            <a:off x="4663440" y="1947672"/>
            <a:ext cx="4023360" cy="731520"/>
          </a:xfrm>
          <a:prstGeom prst="roundRect">
            <a:avLst>
              <a:gd name="adj" fmla="val 10000"/>
            </a:avLst>
          </a:prstGeom>
          <a:solidFill>
            <a:schemeClr val="bg2"/>
          </a:solidFill>
          <a:ln w="12700">
            <a:solidFill>
              <a:schemeClr val="bg2"/>
            </a:solidFill>
            <a:prstDash val="solid"/>
          </a:ln>
        </p:spPr>
      </p:sp>
      <p:sp>
        <p:nvSpPr>
          <p:cNvPr id="14" name="Text 11"/>
          <p:cNvSpPr txBox="1"/>
          <p:nvPr/>
        </p:nvSpPr>
        <p:spPr>
          <a:xfrm>
            <a:off x="4846320" y="2020824"/>
            <a:ext cx="3657600" cy="292608"/>
          </a:xfrm>
          <a:prstGeom prst="rect">
            <a:avLst/>
          </a:prstGeom>
          <a:noFill/>
          <a:ln/>
        </p:spPr>
        <p:txBody>
          <a:bodyPr wrap="square" lIns="0" tIns="0" rIns="0" bIns="0" rtlCol="0" anchor="t"/>
          <a:lstStyle/>
          <a:p>
            <a:pPr indent="0" marL="0">
              <a:buNone/>
            </a:pPr>
            <a:r>
              <a:rPr lang="en-US" sz="1400" b="1" dirty="0">
                <a:solidFill>
                  <a:schemeClr val="tx1"/>
                </a:solidFill>
              </a:rPr>
              <a:t>Embeddings</a:t>
            </a:r>
            <a:endParaRPr lang="en-US" sz="1400" dirty="0"/>
          </a:p>
        </p:txBody>
      </p:sp>
      <p:sp>
        <p:nvSpPr>
          <p:cNvPr id="15" name="Text 12"/>
          <p:cNvSpPr txBox="1"/>
          <p:nvPr/>
        </p:nvSpPr>
        <p:spPr>
          <a:xfrm>
            <a:off x="4846320" y="2313432"/>
            <a:ext cx="3657600" cy="310896"/>
          </a:xfrm>
          <a:prstGeom prst="rect">
            <a:avLst/>
          </a:prstGeom>
          <a:noFill/>
          <a:ln/>
        </p:spPr>
        <p:txBody>
          <a:bodyPr wrap="square" lIns="0" tIns="0" rIns="0" bIns="0" rtlCol="0" anchor="t"/>
          <a:lstStyle/>
          <a:p>
            <a:pPr indent="0" marL="0">
              <a:buNone/>
            </a:pPr>
            <a:r>
              <a:rPr lang="en-US" sz="1200" dirty="0">
                <a:solidFill>
                  <a:schemeClr val="tx2"/>
                </a:solidFill>
              </a:rPr>
              <a:t>sentence-transformers all-MiniLM-L6-v2</a:t>
            </a:r>
            <a:endParaRPr lang="en-US" sz="1200" dirty="0"/>
          </a:p>
        </p:txBody>
      </p:sp>
      <p:sp>
        <p:nvSpPr>
          <p:cNvPr id="16" name="Shape 13"/>
          <p:cNvSpPr/>
          <p:nvPr/>
        </p:nvSpPr>
        <p:spPr>
          <a:xfrm>
            <a:off x="457200" y="2798064"/>
            <a:ext cx="4023360" cy="731520"/>
          </a:xfrm>
          <a:prstGeom prst="roundRect">
            <a:avLst>
              <a:gd name="adj" fmla="val 10000"/>
            </a:avLst>
          </a:prstGeom>
          <a:solidFill>
            <a:schemeClr val="bg2"/>
          </a:solidFill>
          <a:ln w="12700">
            <a:solidFill>
              <a:schemeClr val="bg2"/>
            </a:solidFill>
            <a:prstDash val="solid"/>
          </a:ln>
        </p:spPr>
      </p:sp>
      <p:sp>
        <p:nvSpPr>
          <p:cNvPr id="17" name="Text 14"/>
          <p:cNvSpPr txBox="1"/>
          <p:nvPr/>
        </p:nvSpPr>
        <p:spPr>
          <a:xfrm>
            <a:off x="640080" y="287121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Text emotion</a:t>
            </a:r>
            <a:endParaRPr lang="en-US" sz="1400" dirty="0"/>
          </a:p>
        </p:txBody>
      </p:sp>
      <p:sp>
        <p:nvSpPr>
          <p:cNvPr id="18" name="Text 15"/>
          <p:cNvSpPr txBox="1"/>
          <p:nvPr/>
        </p:nvSpPr>
        <p:spPr>
          <a:xfrm>
            <a:off x="640080" y="3163824"/>
            <a:ext cx="3657600" cy="310896"/>
          </a:xfrm>
          <a:prstGeom prst="rect">
            <a:avLst/>
          </a:prstGeom>
          <a:noFill/>
          <a:ln/>
        </p:spPr>
        <p:txBody>
          <a:bodyPr wrap="square" lIns="0" tIns="0" rIns="0" bIns="0" rtlCol="0" anchor="t"/>
          <a:lstStyle/>
          <a:p>
            <a:pPr indent="0" marL="0">
              <a:buNone/>
            </a:pPr>
            <a:r>
              <a:rPr lang="en-US" sz="1200" dirty="0">
                <a:solidFill>
                  <a:schemeClr val="tx2"/>
                </a:solidFill>
              </a:rPr>
              <a:t>DistilRoBERTa emotion classifier</a:t>
            </a:r>
            <a:endParaRPr lang="en-US" sz="1200" dirty="0"/>
          </a:p>
        </p:txBody>
      </p:sp>
      <p:sp>
        <p:nvSpPr>
          <p:cNvPr id="19" name="Shape 16"/>
          <p:cNvSpPr/>
          <p:nvPr/>
        </p:nvSpPr>
        <p:spPr>
          <a:xfrm>
            <a:off x="4663440" y="2798064"/>
            <a:ext cx="4023360" cy="731520"/>
          </a:xfrm>
          <a:prstGeom prst="roundRect">
            <a:avLst>
              <a:gd name="adj" fmla="val 10000"/>
            </a:avLst>
          </a:prstGeom>
          <a:solidFill>
            <a:schemeClr val="bg2"/>
          </a:solidFill>
          <a:ln w="12700">
            <a:solidFill>
              <a:schemeClr val="bg2"/>
            </a:solidFill>
            <a:prstDash val="solid"/>
          </a:ln>
        </p:spPr>
      </p:sp>
      <p:sp>
        <p:nvSpPr>
          <p:cNvPr id="20" name="Text 17"/>
          <p:cNvSpPr txBox="1"/>
          <p:nvPr/>
        </p:nvSpPr>
        <p:spPr>
          <a:xfrm>
            <a:off x="4846320" y="2871216"/>
            <a:ext cx="3657600" cy="292608"/>
          </a:xfrm>
          <a:prstGeom prst="rect">
            <a:avLst/>
          </a:prstGeom>
          <a:noFill/>
          <a:ln/>
        </p:spPr>
        <p:txBody>
          <a:bodyPr wrap="square" lIns="0" tIns="0" rIns="0" bIns="0" rtlCol="0" anchor="t"/>
          <a:lstStyle/>
          <a:p>
            <a:pPr indent="0" marL="0">
              <a:buNone/>
            </a:pPr>
            <a:r>
              <a:rPr lang="en-US" sz="1400" b="1" dirty="0">
                <a:solidFill>
                  <a:schemeClr val="tx1"/>
                </a:solidFill>
              </a:rPr>
              <a:t>Audio features</a:t>
            </a:r>
            <a:endParaRPr lang="en-US" sz="1400" dirty="0"/>
          </a:p>
        </p:txBody>
      </p:sp>
      <p:sp>
        <p:nvSpPr>
          <p:cNvPr id="21" name="Text 18"/>
          <p:cNvSpPr txBox="1"/>
          <p:nvPr/>
        </p:nvSpPr>
        <p:spPr>
          <a:xfrm>
            <a:off x="4846320" y="3163824"/>
            <a:ext cx="3657600" cy="310896"/>
          </a:xfrm>
          <a:prstGeom prst="rect">
            <a:avLst/>
          </a:prstGeom>
          <a:noFill/>
          <a:ln/>
        </p:spPr>
        <p:txBody>
          <a:bodyPr wrap="square" lIns="0" tIns="0" rIns="0" bIns="0" rtlCol="0" anchor="t"/>
          <a:lstStyle/>
          <a:p>
            <a:pPr indent="0" marL="0">
              <a:buNone/>
            </a:pPr>
            <a:r>
              <a:rPr lang="en-US" sz="1200" dirty="0">
                <a:solidFill>
                  <a:schemeClr val="tx2"/>
                </a:solidFill>
              </a:rPr>
              <a:t>librosa: RMS, onset strength, ZCR</a:t>
            </a:r>
            <a:endParaRPr lang="en-US" sz="1200" dirty="0"/>
          </a:p>
        </p:txBody>
      </p:sp>
      <p:sp>
        <p:nvSpPr>
          <p:cNvPr id="22" name="Shape 19"/>
          <p:cNvSpPr/>
          <p:nvPr/>
        </p:nvSpPr>
        <p:spPr>
          <a:xfrm>
            <a:off x="457200" y="3648456"/>
            <a:ext cx="4023360" cy="731520"/>
          </a:xfrm>
          <a:prstGeom prst="roundRect">
            <a:avLst>
              <a:gd name="adj" fmla="val 10000"/>
            </a:avLst>
          </a:prstGeom>
          <a:solidFill>
            <a:schemeClr val="bg2"/>
          </a:solidFill>
          <a:ln w="12700">
            <a:solidFill>
              <a:schemeClr val="bg2"/>
            </a:solidFill>
            <a:prstDash val="solid"/>
          </a:ln>
        </p:spPr>
      </p:sp>
      <p:sp>
        <p:nvSpPr>
          <p:cNvPr id="23" name="Text 20"/>
          <p:cNvSpPr txBox="1"/>
          <p:nvPr/>
        </p:nvSpPr>
        <p:spPr>
          <a:xfrm>
            <a:off x="640080" y="3721608"/>
            <a:ext cx="3657600" cy="292608"/>
          </a:xfrm>
          <a:prstGeom prst="rect">
            <a:avLst/>
          </a:prstGeom>
          <a:noFill/>
          <a:ln/>
        </p:spPr>
        <p:txBody>
          <a:bodyPr wrap="square" lIns="0" tIns="0" rIns="0" bIns="0" rtlCol="0" anchor="t"/>
          <a:lstStyle/>
          <a:p>
            <a:pPr indent="0" marL="0">
              <a:buNone/>
            </a:pPr>
            <a:r>
              <a:rPr lang="en-US" sz="1400" b="1" dirty="0">
                <a:solidFill>
                  <a:schemeClr val="tx1"/>
                </a:solidFill>
              </a:rPr>
              <a:t>Video</a:t>
            </a:r>
            <a:endParaRPr lang="en-US" sz="1400" dirty="0"/>
          </a:p>
        </p:txBody>
      </p:sp>
      <p:sp>
        <p:nvSpPr>
          <p:cNvPr id="24" name="Text 21"/>
          <p:cNvSpPr txBox="1"/>
          <p:nvPr/>
        </p:nvSpPr>
        <p:spPr>
          <a:xfrm>
            <a:off x="640080" y="4014216"/>
            <a:ext cx="3657600" cy="310896"/>
          </a:xfrm>
          <a:prstGeom prst="rect">
            <a:avLst/>
          </a:prstGeom>
          <a:noFill/>
          <a:ln/>
        </p:spPr>
        <p:txBody>
          <a:bodyPr wrap="square" lIns="0" tIns="0" rIns="0" bIns="0" rtlCol="0" anchor="t"/>
          <a:lstStyle/>
          <a:p>
            <a:pPr indent="0" marL="0">
              <a:buNone/>
            </a:pPr>
            <a:r>
              <a:rPr lang="en-US" sz="1200" dirty="0">
                <a:solidFill>
                  <a:schemeClr val="tx2"/>
                </a:solidFill>
              </a:rPr>
              <a:t>OpenCV: shot cuts, motion, seek / read / write</a:t>
            </a:r>
            <a:endParaRPr lang="en-US" sz="1200" dirty="0"/>
          </a:p>
        </p:txBody>
      </p:sp>
      <p:sp>
        <p:nvSpPr>
          <p:cNvPr id="25" name="Shape 22"/>
          <p:cNvSpPr/>
          <p:nvPr/>
        </p:nvSpPr>
        <p:spPr>
          <a:xfrm>
            <a:off x="4663440" y="3648456"/>
            <a:ext cx="4023360" cy="731520"/>
          </a:xfrm>
          <a:prstGeom prst="roundRect">
            <a:avLst>
              <a:gd name="adj" fmla="val 10000"/>
            </a:avLst>
          </a:prstGeom>
          <a:solidFill>
            <a:schemeClr val="bg2"/>
          </a:solidFill>
          <a:ln w="12700">
            <a:solidFill>
              <a:schemeClr val="bg2"/>
            </a:solidFill>
            <a:prstDash val="solid"/>
          </a:ln>
        </p:spPr>
      </p:sp>
      <p:sp>
        <p:nvSpPr>
          <p:cNvPr id="26" name="Text 23"/>
          <p:cNvSpPr txBox="1"/>
          <p:nvPr/>
        </p:nvSpPr>
        <p:spPr>
          <a:xfrm>
            <a:off x="4846320" y="3721608"/>
            <a:ext cx="3657600" cy="292608"/>
          </a:xfrm>
          <a:prstGeom prst="rect">
            <a:avLst/>
          </a:prstGeom>
          <a:noFill/>
          <a:ln/>
        </p:spPr>
        <p:txBody>
          <a:bodyPr wrap="square" lIns="0" tIns="0" rIns="0" bIns="0" rtlCol="0" anchor="t"/>
          <a:lstStyle/>
          <a:p>
            <a:pPr indent="0" marL="0">
              <a:buNone/>
            </a:pPr>
            <a:r>
              <a:rPr lang="en-US" sz="1400" b="1" dirty="0">
                <a:solidFill>
                  <a:schemeClr val="tx1"/>
                </a:solidFill>
              </a:rPr>
              <a:t>Evaluation</a:t>
            </a:r>
            <a:endParaRPr lang="en-US" sz="1400" dirty="0"/>
          </a:p>
        </p:txBody>
      </p:sp>
      <p:sp>
        <p:nvSpPr>
          <p:cNvPr id="27" name="Text 24"/>
          <p:cNvSpPr txBox="1"/>
          <p:nvPr/>
        </p:nvSpPr>
        <p:spPr>
          <a:xfrm>
            <a:off x="4846320" y="4014216"/>
            <a:ext cx="3657600" cy="310896"/>
          </a:xfrm>
          <a:prstGeom prst="rect">
            <a:avLst/>
          </a:prstGeom>
          <a:noFill/>
          <a:ln/>
        </p:spPr>
        <p:txBody>
          <a:bodyPr wrap="square" lIns="0" tIns="0" rIns="0" bIns="0" rtlCol="0" anchor="t"/>
          <a:lstStyle/>
          <a:p>
            <a:pPr indent="0" marL="0">
              <a:buNone/>
            </a:pPr>
            <a:r>
              <a:rPr lang="en-US" sz="1200" dirty="0">
                <a:solidFill>
                  <a:schemeClr val="tx2"/>
                </a:solidFill>
              </a:rPr>
              <a:t>own BLEU + NLTK + sacreBLEU, ROUGE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Implementation: test, cache, then integrate</a:t>
            </a:r>
            <a:endParaRPr lang="en-US" sz="2800" dirty="0"/>
          </a:p>
        </p:txBody>
      </p:sp>
      <p:sp>
        <p:nvSpPr>
          <p:cNvPr id="4" name="badge 1"/>
          <p:cNvSpPr/>
          <p:nvPr/>
        </p:nvSpPr>
        <p:spPr>
          <a:xfrm>
            <a:off x="457200" y="114300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Text 3"/>
          <p:cNvSpPr txBox="1"/>
          <p:nvPr/>
        </p:nvSpPr>
        <p:spPr>
          <a:xfrm>
            <a:off x="1005840" y="1115568"/>
            <a:ext cx="3108960" cy="320040"/>
          </a:xfrm>
          <a:prstGeom prst="rect">
            <a:avLst/>
          </a:prstGeom>
          <a:noFill/>
          <a:ln/>
        </p:spPr>
        <p:txBody>
          <a:bodyPr wrap="square" lIns="0" tIns="0" rIns="0" bIns="0" rtlCol="0" anchor="t"/>
          <a:lstStyle/>
          <a:p>
            <a:pPr indent="0" marL="0">
              <a:buNone/>
            </a:pPr>
            <a:r>
              <a:rPr lang="en-US" sz="1500" b="1" dirty="0">
                <a:solidFill>
                  <a:schemeClr val="tx1"/>
                </a:solidFill>
              </a:rPr>
              <a:t>Test each component</a:t>
            </a:r>
            <a:endParaRPr lang="en-US" sz="1500" dirty="0"/>
          </a:p>
        </p:txBody>
      </p:sp>
      <p:sp>
        <p:nvSpPr>
          <p:cNvPr id="7" name="Text 4"/>
          <p:cNvSpPr txBox="1"/>
          <p:nvPr/>
        </p:nvSpPr>
        <p:spPr>
          <a:xfrm>
            <a:off x="1005840" y="1435608"/>
            <a:ext cx="3108960" cy="640080"/>
          </a:xfrm>
          <a:prstGeom prst="rect">
            <a:avLst/>
          </a:prstGeom>
          <a:noFill/>
          <a:ln/>
        </p:spPr>
        <p:txBody>
          <a:bodyPr wrap="square" lIns="0" tIns="0" rIns="0" bIns="0" rtlCol="0" anchor="t"/>
          <a:lstStyle/>
          <a:p>
            <a:pPr indent="0" marL="0">
              <a:buNone/>
            </a:pPr>
            <a:r>
              <a:rPr lang="en-US" sz="1300" dirty="0">
                <a:solidFill>
                  <a:schemeClr val="tx2"/>
                </a:solidFill>
              </a:rPr>
              <a:t>27 automated tests; a synthetic movie with a known cut (4 s) and loud burst (5 s), plus the two story checks</a:t>
            </a:r>
            <a:endParaRPr lang="en-US" sz="1300" dirty="0"/>
          </a:p>
        </p:txBody>
      </p:sp>
      <p:sp>
        <p:nvSpPr>
          <p:cNvPr id="8" name="badge 2"/>
          <p:cNvSpPr/>
          <p:nvPr/>
        </p:nvSpPr>
        <p:spPr>
          <a:xfrm>
            <a:off x="457200" y="2194560"/>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57200" y="219456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Text 7"/>
          <p:cNvSpPr txBox="1"/>
          <p:nvPr/>
        </p:nvSpPr>
        <p:spPr>
          <a:xfrm>
            <a:off x="1005840" y="2167128"/>
            <a:ext cx="3108960" cy="320040"/>
          </a:xfrm>
          <a:prstGeom prst="rect">
            <a:avLst/>
          </a:prstGeom>
          <a:noFill/>
          <a:ln/>
        </p:spPr>
        <p:txBody>
          <a:bodyPr wrap="square" lIns="0" tIns="0" rIns="0" bIns="0" rtlCol="0" anchor="t"/>
          <a:lstStyle/>
          <a:p>
            <a:pPr indent="0" marL="0">
              <a:buNone/>
            </a:pPr>
            <a:r>
              <a:rPr lang="en-US" sz="1500" b="1" dirty="0">
                <a:solidFill>
                  <a:schemeClr val="tx1"/>
                </a:solidFill>
              </a:rPr>
              <a:t>Cache slow stages</a:t>
            </a:r>
            <a:endParaRPr lang="en-US" sz="1500" dirty="0"/>
          </a:p>
        </p:txBody>
      </p:sp>
      <p:sp>
        <p:nvSpPr>
          <p:cNvPr id="11" name="Text 8"/>
          <p:cNvSpPr txBox="1"/>
          <p:nvPr/>
        </p:nvSpPr>
        <p:spPr>
          <a:xfrm>
            <a:off x="1005840" y="2487168"/>
            <a:ext cx="3108960" cy="640080"/>
          </a:xfrm>
          <a:prstGeom prst="rect">
            <a:avLst/>
          </a:prstGeom>
          <a:noFill/>
          <a:ln/>
        </p:spPr>
        <p:txBody>
          <a:bodyPr wrap="square" lIns="0" tIns="0" rIns="0" bIns="0" rtlCol="0" anchor="t"/>
          <a:lstStyle/>
          <a:p>
            <a:pPr indent="0" marL="0">
              <a:buNone/>
            </a:pPr>
            <a:r>
              <a:rPr lang="en-US" sz="1300" dirty="0">
                <a:solidFill>
                  <a:schemeClr val="tx2"/>
                </a:solidFill>
              </a:rPr>
              <a:t>transcript, features, summary and peaks saved as JSON</a:t>
            </a:r>
            <a:endParaRPr lang="en-US" sz="1300" dirty="0"/>
          </a:p>
        </p:txBody>
      </p:sp>
      <p:sp>
        <p:nvSpPr>
          <p:cNvPr id="12" name="badge 3"/>
          <p:cNvSpPr/>
          <p:nvPr/>
        </p:nvSpPr>
        <p:spPr>
          <a:xfrm>
            <a:off x="457200" y="3246120"/>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457200" y="32461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 11"/>
          <p:cNvSpPr txBox="1"/>
          <p:nvPr/>
        </p:nvSpPr>
        <p:spPr>
          <a:xfrm>
            <a:off x="1005840" y="3218688"/>
            <a:ext cx="3108960" cy="320040"/>
          </a:xfrm>
          <a:prstGeom prst="rect">
            <a:avLst/>
          </a:prstGeom>
          <a:noFill/>
          <a:ln/>
        </p:spPr>
        <p:txBody>
          <a:bodyPr wrap="square" lIns="0" tIns="0" rIns="0" bIns="0" rtlCol="0" anchor="t"/>
          <a:lstStyle/>
          <a:p>
            <a:pPr indent="0" marL="0">
              <a:buNone/>
            </a:pPr>
            <a:r>
              <a:rPr lang="en-US" sz="1500" b="1" dirty="0">
                <a:solidFill>
                  <a:schemeClr val="tx1"/>
                </a:solidFill>
              </a:rPr>
              <a:t>One config file</a:t>
            </a:r>
            <a:endParaRPr lang="en-US" sz="1500" dirty="0"/>
          </a:p>
        </p:txBody>
      </p:sp>
      <p:sp>
        <p:nvSpPr>
          <p:cNvPr id="15" name="Text 12"/>
          <p:cNvSpPr txBox="1"/>
          <p:nvPr/>
        </p:nvSpPr>
        <p:spPr>
          <a:xfrm>
            <a:off x="1005840" y="3538728"/>
            <a:ext cx="3108960" cy="640080"/>
          </a:xfrm>
          <a:prstGeom prst="rect">
            <a:avLst/>
          </a:prstGeom>
          <a:noFill/>
          <a:ln/>
        </p:spPr>
        <p:txBody>
          <a:bodyPr wrap="square" lIns="0" tIns="0" rIns="0" bIns="0" rtlCol="0" anchor="t"/>
          <a:lstStyle/>
          <a:p>
            <a:pPr indent="0" marL="0">
              <a:buNone/>
            </a:pPr>
            <a:r>
              <a:rPr lang="en-US" sz="1300" dirty="0">
                <a:solidFill>
                  <a:schemeClr val="tx2"/>
                </a:solidFill>
              </a:rPr>
              <a:t>models, fusion weights and the duration budget in config.yaml</a:t>
            </a:r>
            <a:endParaRPr lang="en-US" sz="1300" dirty="0"/>
          </a:p>
        </p:txBody>
      </p:sp>
      <p:graphicFrame>
        <p:nvGraphicFramePr>
          <p:cNvPr id="16" name="Chart 0" descr=""/>
          <p:cNvGraphicFramePr/>
          <p:nvPr/>
        </p:nvGraphicFramePr>
        <p:xfrm>
          <a:off x="4480560" y="100584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Speech-to-text and multimodal signals</a:t>
            </a:r>
            <a:endParaRPr lang="en-US" sz="2800" dirty="0"/>
          </a:p>
        </p:txBody>
      </p:sp>
      <p:pic>
        <p:nvPicPr>
          <p:cNvPr id="4" name="Image 0" descr="Audio, visual, emotion and fused curves across the film with peak points">    </p:cNvPr>
          <p:cNvPicPr>
            <a:picLocks noChangeAspect="1"/>
          </p:cNvPicPr>
          <p:nvPr/>
        </p:nvPicPr>
        <p:blipFill>
          <a:blip r:embed="rId1"/>
          <a:stretch>
            <a:fillRect/>
          </a:stretch>
        </p:blipFill>
        <p:spPr>
          <a:xfrm>
            <a:off x="457200" y="1005840"/>
            <a:ext cx="5029200" cy="3675888"/>
          </a:xfrm>
          <a:prstGeom prst="rect">
            <a:avLst/>
          </a:prstGeom>
        </p:spPr>
      </p:pic>
      <p:sp>
        <p:nvSpPr>
          <p:cNvPr id="5" name="Text 1"/>
          <p:cNvSpPr txBox="1"/>
          <p:nvPr/>
        </p:nvSpPr>
        <p:spPr>
          <a:xfrm>
            <a:off x="5760720" y="1051560"/>
            <a:ext cx="2926080" cy="292608"/>
          </a:xfrm>
          <a:prstGeom prst="rect">
            <a:avLst/>
          </a:prstGeom>
          <a:noFill/>
          <a:ln/>
        </p:spPr>
        <p:txBody>
          <a:bodyPr wrap="square" lIns="0" tIns="0" rIns="0" bIns="0" rtlCol="0" anchor="t"/>
          <a:lstStyle/>
          <a:p>
            <a:pPr indent="0" marL="0">
              <a:buNone/>
            </a:pPr>
            <a:r>
              <a:rPr lang="en-US" sz="1400" b="1" dirty="0">
                <a:solidFill>
                  <a:schemeClr val="tx1"/>
                </a:solidFill>
              </a:rPr>
              <a:t>Transcript</a:t>
            </a:r>
            <a:endParaRPr lang="en-US" sz="1400" dirty="0"/>
          </a:p>
        </p:txBody>
      </p:sp>
      <p:sp>
        <p:nvSpPr>
          <p:cNvPr id="6" name="Text 2"/>
          <p:cNvSpPr txBox="1"/>
          <p:nvPr/>
        </p:nvSpPr>
        <p:spPr>
          <a:xfrm>
            <a:off x="5760720" y="1344168"/>
            <a:ext cx="2926080" cy="548640"/>
          </a:xfrm>
          <a:prstGeom prst="rect">
            <a:avLst/>
          </a:prstGeom>
          <a:noFill/>
          <a:ln/>
        </p:spPr>
        <p:txBody>
          <a:bodyPr wrap="square" lIns="0" tIns="0" rIns="0" bIns="0" rtlCol="0" anchor="t"/>
          <a:lstStyle/>
          <a:p>
            <a:pPr indent="0" marL="0">
              <a:buNone/>
            </a:pPr>
            <a:r>
              <a:rPr lang="en-US" sz="1200" dirty="0">
                <a:solidFill>
                  <a:schemeClr val="tx2"/>
                </a:solidFill>
              </a:rPr>
              <a:t>946 lines, 9k words, word timestamps; 22 min on CPU</a:t>
            </a:r>
            <a:endParaRPr lang="en-US" sz="1200" dirty="0"/>
          </a:p>
        </p:txBody>
      </p:sp>
      <p:sp>
        <p:nvSpPr>
          <p:cNvPr id="7" name="Text 3"/>
          <p:cNvSpPr txBox="1"/>
          <p:nvPr/>
        </p:nvSpPr>
        <p:spPr>
          <a:xfrm>
            <a:off x="5760720" y="1920240"/>
            <a:ext cx="2926080" cy="292608"/>
          </a:xfrm>
          <a:prstGeom prst="rect">
            <a:avLst/>
          </a:prstGeom>
          <a:noFill/>
          <a:ln/>
        </p:spPr>
        <p:txBody>
          <a:bodyPr wrap="square" lIns="0" tIns="0" rIns="0" bIns="0" rtlCol="0" anchor="t"/>
          <a:lstStyle/>
          <a:p>
            <a:pPr indent="0" marL="0">
              <a:buNone/>
            </a:pPr>
            <a:r>
              <a:rPr lang="en-US" sz="1400" b="1" dirty="0">
                <a:solidFill>
                  <a:schemeClr val="tx1"/>
                </a:solidFill>
              </a:rPr>
              <a:t>Audio</a:t>
            </a:r>
            <a:endParaRPr lang="en-US" sz="1400" dirty="0"/>
          </a:p>
        </p:txBody>
      </p:sp>
      <p:sp>
        <p:nvSpPr>
          <p:cNvPr id="8" name="Text 4"/>
          <p:cNvSpPr txBox="1"/>
          <p:nvPr/>
        </p:nvSpPr>
        <p:spPr>
          <a:xfrm>
            <a:off x="5760720" y="2212848"/>
            <a:ext cx="2926080" cy="548640"/>
          </a:xfrm>
          <a:prstGeom prst="rect">
            <a:avLst/>
          </a:prstGeom>
          <a:noFill/>
          <a:ln/>
        </p:spPr>
        <p:txBody>
          <a:bodyPr wrap="square" lIns="0" tIns="0" rIns="0" bIns="0" rtlCol="0" anchor="t"/>
          <a:lstStyle/>
          <a:p>
            <a:pPr indent="0" marL="0">
              <a:buNone/>
            </a:pPr>
            <a:r>
              <a:rPr lang="en-US" sz="1200" dirty="0">
                <a:solidFill>
                  <a:schemeClr val="tx2"/>
                </a:solidFill>
              </a:rPr>
              <a:t>librosa arousal: loudness, onsets, amplitude fluctuation</a:t>
            </a:r>
            <a:endParaRPr lang="en-US" sz="1200" dirty="0"/>
          </a:p>
        </p:txBody>
      </p:sp>
      <p:sp>
        <p:nvSpPr>
          <p:cNvPr id="9" name="Text 5"/>
          <p:cNvSpPr txBox="1"/>
          <p:nvPr/>
        </p:nvSpPr>
        <p:spPr>
          <a:xfrm>
            <a:off x="5760720" y="2788920"/>
            <a:ext cx="2926080" cy="292608"/>
          </a:xfrm>
          <a:prstGeom prst="rect">
            <a:avLst/>
          </a:prstGeom>
          <a:noFill/>
          <a:ln/>
        </p:spPr>
        <p:txBody>
          <a:bodyPr wrap="square" lIns="0" tIns="0" rIns="0" bIns="0" rtlCol="0" anchor="t"/>
          <a:lstStyle/>
          <a:p>
            <a:pPr indent="0" marL="0">
              <a:buNone/>
            </a:pPr>
            <a:r>
              <a:rPr lang="en-US" sz="1400" b="1" dirty="0">
                <a:solidFill>
                  <a:schemeClr val="tx1"/>
                </a:solidFill>
              </a:rPr>
              <a:t>Video</a:t>
            </a:r>
            <a:endParaRPr lang="en-US" sz="1400" dirty="0"/>
          </a:p>
        </p:txBody>
      </p:sp>
      <p:sp>
        <p:nvSpPr>
          <p:cNvPr id="10" name="Text 6"/>
          <p:cNvSpPr txBox="1"/>
          <p:nvPr/>
        </p:nvSpPr>
        <p:spPr>
          <a:xfrm>
            <a:off x="5760720" y="3081528"/>
            <a:ext cx="2926080" cy="548640"/>
          </a:xfrm>
          <a:prstGeom prst="rect">
            <a:avLst/>
          </a:prstGeom>
          <a:noFill/>
          <a:ln/>
        </p:spPr>
        <p:txBody>
          <a:bodyPr wrap="square" lIns="0" tIns="0" rIns="0" bIns="0" rtlCol="0" anchor="t"/>
          <a:lstStyle/>
          <a:p>
            <a:pPr indent="0" marL="0">
              <a:buNone/>
            </a:pPr>
            <a:r>
              <a:rPr lang="en-US" sz="1200" dirty="0">
                <a:solidFill>
                  <a:schemeClr val="tx2"/>
                </a:solidFill>
              </a:rPr>
              <a:t>OpenCV: 312 shot cuts + frame-difference motion</a:t>
            </a:r>
            <a:endParaRPr lang="en-US" sz="1200" dirty="0"/>
          </a:p>
        </p:txBody>
      </p:sp>
      <p:sp>
        <p:nvSpPr>
          <p:cNvPr id="11" name="Text 7"/>
          <p:cNvSpPr txBox="1"/>
          <p:nvPr/>
        </p:nvSpPr>
        <p:spPr>
          <a:xfrm>
            <a:off x="5760720" y="3657600"/>
            <a:ext cx="2926080" cy="292608"/>
          </a:xfrm>
          <a:prstGeom prst="rect">
            <a:avLst/>
          </a:prstGeom>
          <a:noFill/>
          <a:ln/>
        </p:spPr>
        <p:txBody>
          <a:bodyPr wrap="square" lIns="0" tIns="0" rIns="0" bIns="0" rtlCol="0" anchor="t"/>
          <a:lstStyle/>
          <a:p>
            <a:pPr indent="0" marL="0">
              <a:buNone/>
            </a:pPr>
            <a:r>
              <a:rPr lang="en-US" sz="1400" b="1" dirty="0">
                <a:solidFill>
                  <a:schemeClr val="tx1"/>
                </a:solidFill>
              </a:rPr>
              <a:t>Text emotion</a:t>
            </a:r>
            <a:endParaRPr lang="en-US" sz="1400" dirty="0"/>
          </a:p>
        </p:txBody>
      </p:sp>
      <p:sp>
        <p:nvSpPr>
          <p:cNvPr id="12" name="Text 8"/>
          <p:cNvSpPr txBox="1"/>
          <p:nvPr/>
        </p:nvSpPr>
        <p:spPr>
          <a:xfrm>
            <a:off x="5760720" y="3950208"/>
            <a:ext cx="2926080" cy="548640"/>
          </a:xfrm>
          <a:prstGeom prst="rect">
            <a:avLst/>
          </a:prstGeom>
          <a:noFill/>
          <a:ln/>
        </p:spPr>
        <p:txBody>
          <a:bodyPr wrap="square" lIns="0" tIns="0" rIns="0" bIns="0" rtlCol="0" anchor="t"/>
          <a:lstStyle/>
          <a:p>
            <a:pPr indent="0" marL="0">
              <a:buNone/>
            </a:pPr>
            <a:r>
              <a:rPr lang="en-US" sz="1200" dirty="0">
                <a:solidFill>
                  <a:schemeClr val="tx2"/>
                </a:solidFill>
              </a:rPr>
              <a:t>48% of lines non-neutral (surprise, disgust, anger lead)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Summary story: grounded notes, editor and two checks</a:t>
            </a:r>
            <a:endParaRPr lang="en-US" sz="2800" dirty="0"/>
          </a:p>
        </p:txBody>
      </p:sp>
      <p:sp>
        <p:nvSpPr>
          <p:cNvPr id="4" name="badge 1"/>
          <p:cNvSpPr/>
          <p:nvPr/>
        </p:nvSpPr>
        <p:spPr>
          <a:xfrm>
            <a:off x="457200" y="1143000"/>
            <a:ext cx="347472" cy="347472"/>
          </a:xfrm>
          <a:prstGeom prst="ellipse">
            <a:avLst/>
          </a:prstGeom>
          <a:solidFill>
            <a:schemeClr val="accent1"/>
          </a:solidFill>
          <a:ln w="12700">
            <a:solidFill>
              <a:schemeClr val="accent1"/>
            </a:solidFill>
            <a:prstDash val="solid"/>
          </a:ln>
        </p:spPr>
      </p:sp>
      <p:sp>
        <p:nvSpPr>
          <p:cNvPr id="5" name="Text 2"/>
          <p:cNvSpPr txBox="1"/>
          <p:nvPr/>
        </p:nvSpPr>
        <p:spPr>
          <a:xfrm>
            <a:off x="457200" y="114300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6" name="Text 3"/>
          <p:cNvSpPr txBox="1"/>
          <p:nvPr/>
        </p:nvSpPr>
        <p:spPr>
          <a:xfrm>
            <a:off x="960120" y="1143000"/>
            <a:ext cx="3017520" cy="594360"/>
          </a:xfrm>
          <a:prstGeom prst="rect">
            <a:avLst/>
          </a:prstGeom>
          <a:noFill/>
          <a:ln/>
        </p:spPr>
        <p:txBody>
          <a:bodyPr wrap="square" lIns="0" tIns="0" rIns="0" bIns="0" rtlCol="0" anchor="ctr"/>
          <a:lstStyle/>
          <a:p>
            <a:pPr indent="0" marL="0">
              <a:buNone/>
            </a:pPr>
            <a:r>
              <a:rPr lang="en-US" sz="1300" dirty="0">
                <a:solidFill>
                  <a:schemeClr val="tx2"/>
                </a:solidFill>
              </a:rPr>
              <a:t>13 chunks of ~5 min: notes "who - does what - to whom (quote)", then 2 sentences</a:t>
            </a:r>
            <a:endParaRPr lang="en-US" sz="1300" dirty="0"/>
          </a:p>
        </p:txBody>
      </p:sp>
      <p:sp>
        <p:nvSpPr>
          <p:cNvPr id="7" name="badge 2"/>
          <p:cNvSpPr/>
          <p:nvPr/>
        </p:nvSpPr>
        <p:spPr>
          <a:xfrm>
            <a:off x="457200" y="1828800"/>
            <a:ext cx="347472" cy="347472"/>
          </a:xfrm>
          <a:prstGeom prst="ellipse">
            <a:avLst/>
          </a:prstGeom>
          <a:solidFill>
            <a:schemeClr val="accent1"/>
          </a:solidFill>
          <a:ln w="12700">
            <a:solidFill>
              <a:schemeClr val="accent1"/>
            </a:solidFill>
            <a:prstDash val="solid"/>
          </a:ln>
        </p:spPr>
      </p:sp>
      <p:sp>
        <p:nvSpPr>
          <p:cNvPr id="8" name="Text 5"/>
          <p:cNvSpPr txBox="1"/>
          <p:nvPr/>
        </p:nvSpPr>
        <p:spPr>
          <a:xfrm>
            <a:off x="457200" y="182880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9" name="Text 6"/>
          <p:cNvSpPr txBox="1"/>
          <p:nvPr/>
        </p:nvSpPr>
        <p:spPr>
          <a:xfrm>
            <a:off x="960120" y="1828800"/>
            <a:ext cx="3017520" cy="594360"/>
          </a:xfrm>
          <a:prstGeom prst="rect">
            <a:avLst/>
          </a:prstGeom>
          <a:noFill/>
          <a:ln/>
        </p:spPr>
        <p:txBody>
          <a:bodyPr wrap="square" lIns="0" tIns="0" rIns="0" bIns="0" rtlCol="0" anchor="ctr"/>
          <a:lstStyle/>
          <a:p>
            <a:pPr indent="0" marL="0">
              <a:buNone/>
            </a:pPr>
            <a:r>
              <a:rPr lang="en-US" sz="1300" dirty="0">
                <a:solidFill>
                  <a:schemeClr val="tx2"/>
                </a:solidFill>
              </a:rPr>
              <a:t>Editor pass: fixes roles, removes repeats, restores missing events</a:t>
            </a:r>
            <a:endParaRPr lang="en-US" sz="1300" dirty="0"/>
          </a:p>
        </p:txBody>
      </p:sp>
      <p:sp>
        <p:nvSpPr>
          <p:cNvPr id="10" name="badge 3"/>
          <p:cNvSpPr/>
          <p:nvPr/>
        </p:nvSpPr>
        <p:spPr>
          <a:xfrm>
            <a:off x="457200" y="2514600"/>
            <a:ext cx="347472" cy="347472"/>
          </a:xfrm>
          <a:prstGeom prst="ellipse">
            <a:avLst/>
          </a:prstGeom>
          <a:solidFill>
            <a:schemeClr val="accent1"/>
          </a:solidFill>
          <a:ln w="12700">
            <a:solidFill>
              <a:schemeClr val="accent1"/>
            </a:solidFill>
            <a:prstDash val="solid"/>
          </a:ln>
        </p:spPr>
      </p:sp>
      <p:sp>
        <p:nvSpPr>
          <p:cNvPr id="11" name="Text 8"/>
          <p:cNvSpPr txBox="1"/>
          <p:nvPr/>
        </p:nvSpPr>
        <p:spPr>
          <a:xfrm>
            <a:off x="457200" y="251460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Text 9"/>
          <p:cNvSpPr txBox="1"/>
          <p:nvPr/>
        </p:nvSpPr>
        <p:spPr>
          <a:xfrm>
            <a:off x="960120" y="2514600"/>
            <a:ext cx="3017520" cy="594360"/>
          </a:xfrm>
          <a:prstGeom prst="rect">
            <a:avLst/>
          </a:prstGeom>
          <a:noFill/>
          <a:ln/>
        </p:spPr>
        <p:txBody>
          <a:bodyPr wrap="square" lIns="0" tIns="0" rIns="0" bIns="0" rtlCol="0" anchor="ctr"/>
          <a:lstStyle/>
          <a:p>
            <a:pPr indent="0" marL="0">
              <a:buNone/>
            </a:pPr>
            <a:r>
              <a:rPr lang="en-US" sz="1300" dirty="0">
                <a:solidFill>
                  <a:schemeClr val="tx2"/>
                </a:solidFill>
              </a:rPr>
              <a:t>Key-event check: a death or murder in the dialogue must be in the story</a:t>
            </a:r>
            <a:endParaRPr lang="en-US" sz="1300" dirty="0"/>
          </a:p>
        </p:txBody>
      </p:sp>
      <p:sp>
        <p:nvSpPr>
          <p:cNvPr id="13" name="badge 4"/>
          <p:cNvSpPr/>
          <p:nvPr/>
        </p:nvSpPr>
        <p:spPr>
          <a:xfrm>
            <a:off x="457200" y="3200400"/>
            <a:ext cx="347472" cy="347472"/>
          </a:xfrm>
          <a:prstGeom prst="ellipse">
            <a:avLst/>
          </a:prstGeom>
          <a:solidFill>
            <a:schemeClr val="accent1"/>
          </a:solidFill>
          <a:ln w="12700">
            <a:solidFill>
              <a:schemeClr val="accent1"/>
            </a:solidFill>
            <a:prstDash val="solid"/>
          </a:ln>
        </p:spPr>
      </p:sp>
      <p:sp>
        <p:nvSpPr>
          <p:cNvPr id="14" name="Text 11"/>
          <p:cNvSpPr txBox="1"/>
          <p:nvPr/>
        </p:nvSpPr>
        <p:spPr>
          <a:xfrm>
            <a:off x="457200" y="320040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5" name="Text 12"/>
          <p:cNvSpPr txBox="1"/>
          <p:nvPr/>
        </p:nvSpPr>
        <p:spPr>
          <a:xfrm>
            <a:off x="960120" y="3200400"/>
            <a:ext cx="3017520" cy="594360"/>
          </a:xfrm>
          <a:prstGeom prst="rect">
            <a:avLst/>
          </a:prstGeom>
          <a:noFill/>
          <a:ln/>
        </p:spPr>
        <p:txBody>
          <a:bodyPr wrap="square" lIns="0" tIns="0" rIns="0" bIns="0" rtlCol="0" anchor="ctr"/>
          <a:lstStyle/>
          <a:p>
            <a:pPr indent="0" marL="0">
              <a:buNone/>
            </a:pPr>
            <a:r>
              <a:rPr lang="en-US" sz="1300" dirty="0">
                <a:solidFill>
                  <a:schemeClr val="tx2"/>
                </a:solidFill>
              </a:rPr>
              <a:t>Character-entry check: no name before it is first spoken</a:t>
            </a:r>
            <a:endParaRPr lang="en-US" sz="1300" dirty="0"/>
          </a:p>
        </p:txBody>
      </p:sp>
      <p:sp>
        <p:nvSpPr>
          <p:cNvPr id="16" name="Shape 13"/>
          <p:cNvSpPr/>
          <p:nvPr/>
        </p:nvSpPr>
        <p:spPr>
          <a:xfrm>
            <a:off x="4206240" y="1051560"/>
            <a:ext cx="4480560" cy="3474720"/>
          </a:xfrm>
          <a:prstGeom prst="roundRect">
            <a:avLst>
              <a:gd name="adj" fmla="val 2105"/>
            </a:avLst>
          </a:prstGeom>
          <a:solidFill>
            <a:schemeClr val="bg2"/>
          </a:solidFill>
          <a:ln w="12700">
            <a:solidFill>
              <a:schemeClr val="bg2"/>
            </a:solidFill>
            <a:prstDash val="solid"/>
          </a:ln>
        </p:spPr>
      </p:sp>
      <p:sp>
        <p:nvSpPr>
          <p:cNvPr id="17" name="Text 14"/>
          <p:cNvSpPr txBox="1"/>
          <p:nvPr/>
        </p:nvSpPr>
        <p:spPr>
          <a:xfrm>
            <a:off x="4389120" y="1170432"/>
            <a:ext cx="4114800" cy="274320"/>
          </a:xfrm>
          <a:prstGeom prst="rect">
            <a:avLst/>
          </a:prstGeom>
          <a:noFill/>
          <a:ln/>
        </p:spPr>
        <p:txBody>
          <a:bodyPr wrap="square" lIns="0" tIns="0" rIns="0" bIns="0" rtlCol="0" anchor="t"/>
          <a:lstStyle/>
          <a:p>
            <a:pPr indent="0" marL="0">
              <a:buNone/>
            </a:pPr>
            <a:r>
              <a:rPr lang="en-US" sz="1200" b="1" dirty="0">
                <a:solidFill>
                  <a:schemeClr val="accent5"/>
                </a:solidFill>
              </a:rPr>
              <a:t>From the generated story (24 sentences, 410 words)</a:t>
            </a:r>
            <a:endParaRPr lang="en-US" sz="1200" dirty="0"/>
          </a:p>
        </p:txBody>
      </p:sp>
      <p:sp>
        <p:nvSpPr>
          <p:cNvPr id="18" name="Text 15"/>
          <p:cNvSpPr txBox="1"/>
          <p:nvPr/>
        </p:nvSpPr>
        <p:spPr>
          <a:xfrm>
            <a:off x="4389120" y="1508760"/>
            <a:ext cx="4114800" cy="731520"/>
          </a:xfrm>
          <a:prstGeom prst="rect">
            <a:avLst/>
          </a:prstGeom>
          <a:noFill/>
          <a:ln/>
        </p:spPr>
        <p:txBody>
          <a:bodyPr wrap="square" lIns="0" tIns="0" rIns="0" bIns="0" rtlCol="0" anchor="t"/>
          <a:lstStyle/>
          <a:p>
            <a:pPr indent="0" marL="0">
              <a:buNone/>
            </a:pPr>
            <a:r>
              <a:rPr lang="en-US" sz="1150" b="1" dirty="0">
                <a:solidFill>
                  <a:schemeClr val="tx1"/>
                </a:solidFill>
              </a:rPr>
              <a:t>02:03-07:02  </a:t>
            </a:r>
            <a:pPr indent="0" marL="0">
              <a:buNone/>
            </a:pPr>
            <a:r>
              <a:rPr lang="en-US" sz="1150" dirty="0">
                <a:solidFill>
                  <a:schemeClr val="tx2"/>
                </a:solidFill>
              </a:rPr>
              <a:t>Al reflects on his time at the old break at Dawn Club, missing his former life and his girlfriend Sue.</a:t>
            </a:r>
            <a:endParaRPr lang="en-US" sz="1150" dirty="0"/>
          </a:p>
        </p:txBody>
      </p:sp>
      <p:sp>
        <p:nvSpPr>
          <p:cNvPr id="19" name="Text 16"/>
          <p:cNvSpPr txBox="1"/>
          <p:nvPr/>
        </p:nvSpPr>
        <p:spPr>
          <a:xfrm>
            <a:off x="4389120" y="2258568"/>
            <a:ext cx="4114800" cy="731520"/>
          </a:xfrm>
          <a:prstGeom prst="rect">
            <a:avLst/>
          </a:prstGeom>
          <a:noFill/>
          <a:ln/>
        </p:spPr>
        <p:txBody>
          <a:bodyPr wrap="square" lIns="0" tIns="0" rIns="0" bIns="0" rtlCol="0" anchor="t"/>
          <a:lstStyle/>
          <a:p>
            <a:pPr indent="0" marL="0">
              <a:buNone/>
            </a:pPr>
            <a:r>
              <a:rPr lang="en-US" sz="1150" b="1" dirty="0">
                <a:solidFill>
                  <a:schemeClr val="tx1"/>
                </a:solidFill>
              </a:rPr>
              <a:t>27:11-31:57  </a:t>
            </a:r>
            <a:pPr indent="0" marL="0">
              <a:buNone/>
            </a:pPr>
            <a:r>
              <a:rPr lang="en-US" sz="1150" dirty="0">
                <a:solidFill>
                  <a:schemeClr val="tx2"/>
                </a:solidFill>
              </a:rPr>
              <a:t>Al drives cautiously, suspecting he is being followed, and interacts with an officer who confirms his identity as Charles Haskell, Jr. Al finds $768 and a letter that reveals Haskell's deceitful nature, leading him to decide to investigate further.</a:t>
            </a:r>
            <a:endParaRPr lang="en-US" sz="1150" dirty="0"/>
          </a:p>
        </p:txBody>
      </p:sp>
      <p:sp>
        <p:nvSpPr>
          <p:cNvPr id="20" name="Text 17"/>
          <p:cNvSpPr txBox="1"/>
          <p:nvPr/>
        </p:nvSpPr>
        <p:spPr>
          <a:xfrm>
            <a:off x="4389120" y="3008376"/>
            <a:ext cx="4114800" cy="731520"/>
          </a:xfrm>
          <a:prstGeom prst="rect">
            <a:avLst/>
          </a:prstGeom>
          <a:noFill/>
          <a:ln/>
        </p:spPr>
        <p:txBody>
          <a:bodyPr wrap="square" lIns="0" tIns="0" rIns="0" bIns="0" rtlCol="0" anchor="t"/>
          <a:lstStyle/>
          <a:p>
            <a:pPr indent="0" marL="0">
              <a:buNone/>
            </a:pPr>
            <a:r>
              <a:rPr lang="en-US" sz="1150" b="1" dirty="0">
                <a:solidFill>
                  <a:schemeClr val="tx1"/>
                </a:solidFill>
              </a:rPr>
              <a:t>46:58-51:46  </a:t>
            </a:r>
            <a:pPr indent="0" marL="0">
              <a:buNone/>
            </a:pPr>
            <a:r>
              <a:rPr lang="en-US" sz="1150" dirty="0">
                <a:solidFill>
                  <a:schemeClr val="tx2"/>
                </a:solidFill>
              </a:rPr>
              <a:t>Vera threatens Al, forcing him to stay.</a:t>
            </a:r>
            <a:endParaRPr lang="en-US" sz="1150" dirty="0"/>
          </a:p>
        </p:txBody>
      </p:sp>
      <p:sp>
        <p:nvSpPr>
          <p:cNvPr id="21" name="Text 18"/>
          <p:cNvSpPr txBox="1"/>
          <p:nvPr/>
        </p:nvSpPr>
        <p:spPr>
          <a:xfrm>
            <a:off x="4389120" y="3758184"/>
            <a:ext cx="4114800" cy="731520"/>
          </a:xfrm>
          <a:prstGeom prst="rect">
            <a:avLst/>
          </a:prstGeom>
          <a:noFill/>
          <a:ln/>
        </p:spPr>
        <p:txBody>
          <a:bodyPr wrap="square" lIns="0" tIns="0" rIns="0" bIns="0" rtlCol="0" anchor="t"/>
          <a:lstStyle/>
          <a:p>
            <a:pPr indent="0" marL="0">
              <a:buNone/>
            </a:pPr>
            <a:r>
              <a:rPr lang="en-US" sz="1150" b="1" dirty="0">
                <a:solidFill>
                  <a:schemeClr val="tx1"/>
                </a:solidFill>
              </a:rPr>
              <a:t>61:48-67:24  </a:t>
            </a:r>
            <a:pPr indent="0" marL="0">
              <a:buNone/>
            </a:pPr>
            <a:r>
              <a:rPr lang="en-US" sz="1150" dirty="0">
                <a:solidFill>
                  <a:schemeClr val="tx2"/>
                </a:solidFill>
              </a:rPr>
              <a:t>Al contemplates his next move, planning to destroy evidence and flee Bakersfield to avoid being recognized, while hoping fate will spare him by not stopping him on the road.</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Peak-point identification: alignment + post-fusion</a:t>
            </a:r>
            <a:endParaRPr lang="en-US" sz="2800" dirty="0"/>
          </a:p>
        </p:txBody>
      </p:sp>
      <p:pic>
        <p:nvPicPr>
          <p:cNvPr id="4" name="Image 0" descr="Story sentence by transcript window similarity with the alignment path">    </p:cNvPr>
          <p:cNvPicPr>
            <a:picLocks noChangeAspect="1"/>
          </p:cNvPicPr>
          <p:nvPr/>
        </p:nvPicPr>
        <p:blipFill>
          <a:blip r:embed="rId1"/>
          <a:stretch>
            <a:fillRect/>
          </a:stretch>
        </p:blipFill>
        <p:spPr>
          <a:xfrm>
            <a:off x="457200" y="1005840"/>
            <a:ext cx="5120640" cy="2048256"/>
          </a:xfrm>
          <a:prstGeom prst="rect">
            <a:avLst/>
          </a:prstGeom>
        </p:spPr>
      </p:pic>
      <p:sp>
        <p:nvSpPr>
          <p:cNvPr id="5" name="Text 1"/>
          <p:cNvSpPr txBox="1"/>
          <p:nvPr/>
        </p:nvSpPr>
        <p:spPr>
          <a:xfrm>
            <a:off x="457200" y="3200400"/>
            <a:ext cx="5120640" cy="548640"/>
          </a:xfrm>
          <a:prstGeom prst="rect">
            <a:avLst/>
          </a:prstGeom>
          <a:noFill/>
          <a:ln/>
        </p:spPr>
        <p:txBody>
          <a:bodyPr wrap="square" lIns="0" tIns="0" rIns="0" bIns="0" rtlCol="0" anchor="t"/>
          <a:lstStyle/>
          <a:p>
            <a:pPr indent="0" marL="0">
              <a:buNone/>
            </a:pPr>
            <a:r>
              <a:rPr lang="en-US" sz="1300" b="1" dirty="0">
                <a:solidFill>
                  <a:schemeClr val="tx1"/>
                </a:solidFill>
              </a:rPr>
              <a:t>1  Alignment. </a:t>
            </a:r>
            <a:pPr indent="0" marL="0">
              <a:buNone/>
            </a:pPr>
            <a:r>
              <a:rPr lang="en-US" sz="1300" dirty="0">
                <a:solidFill>
                  <a:schemeClr val="tx2"/>
                </a:solidFill>
              </a:rPr>
              <a:t>Monotonic dynamic programming keeps story order, inside each sentence's own chunk.</a:t>
            </a:r>
            <a:endParaRPr lang="en-US" sz="1300" dirty="0"/>
          </a:p>
        </p:txBody>
      </p:sp>
      <p:sp>
        <p:nvSpPr>
          <p:cNvPr id="6" name="Text 2"/>
          <p:cNvSpPr txBox="1"/>
          <p:nvPr/>
        </p:nvSpPr>
        <p:spPr>
          <a:xfrm>
            <a:off x="457200" y="3794760"/>
            <a:ext cx="5120640" cy="548640"/>
          </a:xfrm>
          <a:prstGeom prst="rect">
            <a:avLst/>
          </a:prstGeom>
          <a:noFill/>
          <a:ln/>
        </p:spPr>
        <p:txBody>
          <a:bodyPr wrap="square" lIns="0" tIns="0" rIns="0" bIns="0" rtlCol="0" anchor="t"/>
          <a:lstStyle/>
          <a:p>
            <a:pPr indent="0" marL="0">
              <a:buNone/>
            </a:pPr>
            <a:r>
              <a:rPr lang="en-US" sz="1300" b="1" dirty="0">
                <a:solidFill>
                  <a:schemeClr val="tx1"/>
                </a:solidFill>
              </a:rPr>
              <a:t>2  Peak picking. </a:t>
            </a:r>
            <a:pPr indent="0" marL="0">
              <a:buNone/>
            </a:pPr>
            <a:r>
              <a:rPr lang="en-US" sz="1300" dirty="0">
                <a:solidFill>
                  <a:schemeClr val="tx2"/>
                </a:solidFill>
              </a:rPr>
              <a:t>Within ±45 s, the highest fused score wins; its Whisper timestamp is the time index.</a:t>
            </a:r>
            <a:endParaRPr lang="en-US" sz="1300" dirty="0"/>
          </a:p>
        </p:txBody>
      </p:sp>
      <p:graphicFrame>
        <p:nvGraphicFramePr>
          <p:cNvPr id="7" name="Chart 0" descr=""/>
          <p:cNvGraphicFramePr/>
          <p:nvPr/>
        </p:nvGraphicFramePr>
        <p:xfrm>
          <a:off x="5852160" y="1005840"/>
          <a:ext cx="2834640" cy="33832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Timestamp mapping and segment extraction</a:t>
            </a:r>
            <a:endParaRPr lang="en-US" sz="2800" dirty="0"/>
          </a:p>
        </p:txBody>
      </p:sp>
      <p:sp>
        <p:nvSpPr>
          <p:cNvPr id="4" name="Shape 1"/>
          <p:cNvSpPr/>
          <p:nvPr/>
        </p:nvSpPr>
        <p:spPr>
          <a:xfrm>
            <a:off x="457200" y="1051560"/>
            <a:ext cx="1261872" cy="1051560"/>
          </a:xfrm>
          <a:prstGeom prst="roundRect">
            <a:avLst>
              <a:gd name="adj" fmla="val 6957"/>
            </a:avLst>
          </a:prstGeom>
          <a:solidFill>
            <a:schemeClr val="bg2"/>
          </a:solidFill>
          <a:ln w="12700">
            <a:solidFill>
              <a:schemeClr val="bg2"/>
            </a:solidFill>
            <a:prstDash val="solid"/>
          </a:ln>
        </p:spPr>
      </p:sp>
      <p:sp>
        <p:nvSpPr>
          <p:cNvPr id="5" name="Text 2"/>
          <p:cNvSpPr txBox="1"/>
          <p:nvPr/>
        </p:nvSpPr>
        <p:spPr>
          <a:xfrm>
            <a:off x="548640"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Story sentence 23</a:t>
            </a:r>
            <a:endParaRPr lang="en-US" sz="1100" dirty="0"/>
          </a:p>
        </p:txBody>
      </p:sp>
      <p:sp>
        <p:nvSpPr>
          <p:cNvPr id="6" name="Text 3"/>
          <p:cNvSpPr txBox="1"/>
          <p:nvPr/>
        </p:nvSpPr>
        <p:spPr>
          <a:xfrm>
            <a:off x="548640"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"Al kills Vera accidentally, and now the polic…"</a:t>
            </a:r>
            <a:endParaRPr lang="en-US" sz="1050" dirty="0"/>
          </a:p>
        </p:txBody>
      </p:sp>
      <p:sp>
        <p:nvSpPr>
          <p:cNvPr id="7" name="Text 4"/>
          <p:cNvSpPr txBox="1"/>
          <p:nvPr/>
        </p:nvSpPr>
        <p:spPr>
          <a:xfrm>
            <a:off x="1700784" y="1371600"/>
            <a:ext cx="182880" cy="36576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8" name="Shape 5"/>
          <p:cNvSpPr/>
          <p:nvPr/>
        </p:nvSpPr>
        <p:spPr>
          <a:xfrm>
            <a:off x="1856232" y="1051560"/>
            <a:ext cx="1261872" cy="1051560"/>
          </a:xfrm>
          <a:prstGeom prst="roundRect">
            <a:avLst>
              <a:gd name="adj" fmla="val 6957"/>
            </a:avLst>
          </a:prstGeom>
          <a:solidFill>
            <a:schemeClr val="bg2"/>
          </a:solidFill>
          <a:ln w="12700">
            <a:solidFill>
              <a:schemeClr val="bg2"/>
            </a:solidFill>
            <a:prstDash val="solid"/>
          </a:ln>
        </p:spPr>
      </p:sp>
      <p:sp>
        <p:nvSpPr>
          <p:cNvPr id="9" name="Text 6"/>
          <p:cNvSpPr txBox="1"/>
          <p:nvPr/>
        </p:nvSpPr>
        <p:spPr>
          <a:xfrm>
            <a:off x="1947672"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Source chunk</a:t>
            </a:r>
            <a:endParaRPr lang="en-US" sz="1100" dirty="0"/>
          </a:p>
        </p:txBody>
      </p:sp>
      <p:sp>
        <p:nvSpPr>
          <p:cNvPr id="10" name="Text 7"/>
          <p:cNvSpPr txBox="1"/>
          <p:nvPr/>
        </p:nvSpPr>
        <p:spPr>
          <a:xfrm>
            <a:off x="1947672"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61:48-67:24</a:t>
            </a:r>
            <a:endParaRPr lang="en-US" sz="1050" dirty="0"/>
          </a:p>
        </p:txBody>
      </p:sp>
      <p:sp>
        <p:nvSpPr>
          <p:cNvPr id="11" name="Text 8"/>
          <p:cNvSpPr txBox="1"/>
          <p:nvPr/>
        </p:nvSpPr>
        <p:spPr>
          <a:xfrm>
            <a:off x="3099816" y="1371600"/>
            <a:ext cx="182880" cy="36576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2" name="Shape 9"/>
          <p:cNvSpPr/>
          <p:nvPr/>
        </p:nvSpPr>
        <p:spPr>
          <a:xfrm>
            <a:off x="3255264" y="1051560"/>
            <a:ext cx="1261872" cy="1051560"/>
          </a:xfrm>
          <a:prstGeom prst="roundRect">
            <a:avLst>
              <a:gd name="adj" fmla="val 6957"/>
            </a:avLst>
          </a:prstGeom>
          <a:solidFill>
            <a:schemeClr val="bg2"/>
          </a:solidFill>
          <a:ln w="12700">
            <a:solidFill>
              <a:schemeClr val="bg2"/>
            </a:solidFill>
            <a:prstDash val="solid"/>
          </a:ln>
        </p:spPr>
      </p:sp>
      <p:sp>
        <p:nvSpPr>
          <p:cNvPr id="13" name="Text 10"/>
          <p:cNvSpPr txBox="1"/>
          <p:nvPr/>
        </p:nvSpPr>
        <p:spPr>
          <a:xfrm>
            <a:off x="3346704"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Peak line</a:t>
            </a:r>
            <a:endParaRPr lang="en-US" sz="1100" dirty="0"/>
          </a:p>
        </p:txBody>
      </p:sp>
      <p:sp>
        <p:nvSpPr>
          <p:cNvPr id="14" name="Text 11"/>
          <p:cNvSpPr txBox="1"/>
          <p:nvPr/>
        </p:nvSpPr>
        <p:spPr>
          <a:xfrm>
            <a:off x="3346704"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"And now, after killing Vera without rea…"</a:t>
            </a:r>
            <a:endParaRPr lang="en-US" sz="1050" dirty="0"/>
          </a:p>
        </p:txBody>
      </p:sp>
      <p:sp>
        <p:nvSpPr>
          <p:cNvPr id="15" name="Text 12"/>
          <p:cNvSpPr txBox="1"/>
          <p:nvPr/>
        </p:nvSpPr>
        <p:spPr>
          <a:xfrm>
            <a:off x="4498848" y="1371600"/>
            <a:ext cx="182880" cy="36576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6" name="Shape 13"/>
          <p:cNvSpPr/>
          <p:nvPr/>
        </p:nvSpPr>
        <p:spPr>
          <a:xfrm>
            <a:off x="4654296" y="1051560"/>
            <a:ext cx="1261872" cy="1051560"/>
          </a:xfrm>
          <a:prstGeom prst="roundRect">
            <a:avLst>
              <a:gd name="adj" fmla="val 6957"/>
            </a:avLst>
          </a:prstGeom>
          <a:solidFill>
            <a:schemeClr val="accent1"/>
          </a:solidFill>
          <a:ln w="12700">
            <a:solidFill>
              <a:schemeClr val="accent1"/>
            </a:solidFill>
            <a:prstDash val="solid"/>
          </a:ln>
        </p:spPr>
      </p:sp>
      <p:sp>
        <p:nvSpPr>
          <p:cNvPr id="17" name="Text 14"/>
          <p:cNvSpPr txBox="1"/>
          <p:nvPr/>
        </p:nvSpPr>
        <p:spPr>
          <a:xfrm>
            <a:off x="4745736"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Time index</a:t>
            </a:r>
            <a:endParaRPr lang="en-US" sz="1100" dirty="0"/>
          </a:p>
        </p:txBody>
      </p:sp>
      <p:sp>
        <p:nvSpPr>
          <p:cNvPr id="18" name="Text 15"/>
          <p:cNvSpPr txBox="1"/>
          <p:nvPr/>
        </p:nvSpPr>
        <p:spPr>
          <a:xfrm>
            <a:off x="4745736"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01:03:19</a:t>
            </a:r>
            <a:endParaRPr lang="en-US" sz="1050" dirty="0"/>
          </a:p>
        </p:txBody>
      </p:sp>
      <p:sp>
        <p:nvSpPr>
          <p:cNvPr id="19" name="Text 16"/>
          <p:cNvSpPr txBox="1"/>
          <p:nvPr/>
        </p:nvSpPr>
        <p:spPr>
          <a:xfrm>
            <a:off x="5897880" y="1371600"/>
            <a:ext cx="182880" cy="36576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Shape 17"/>
          <p:cNvSpPr/>
          <p:nvPr/>
        </p:nvSpPr>
        <p:spPr>
          <a:xfrm>
            <a:off x="6053328" y="1051560"/>
            <a:ext cx="1261872" cy="1051560"/>
          </a:xfrm>
          <a:prstGeom prst="roundRect">
            <a:avLst>
              <a:gd name="adj" fmla="val 6957"/>
            </a:avLst>
          </a:prstGeom>
          <a:solidFill>
            <a:schemeClr val="bg2"/>
          </a:solidFill>
          <a:ln w="12700">
            <a:solidFill>
              <a:schemeClr val="bg2"/>
            </a:solidFill>
            <a:prstDash val="solid"/>
          </a:ln>
        </p:spPr>
      </p:sp>
      <p:sp>
        <p:nvSpPr>
          <p:cNvPr id="21" name="Text 18"/>
          <p:cNvSpPr txBox="1"/>
          <p:nvPr/>
        </p:nvSpPr>
        <p:spPr>
          <a:xfrm>
            <a:off x="6144768"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Film clip</a:t>
            </a:r>
            <a:endParaRPr lang="en-US" sz="1100" dirty="0"/>
          </a:p>
        </p:txBody>
      </p:sp>
      <p:sp>
        <p:nvSpPr>
          <p:cNvPr id="22" name="Text 19"/>
          <p:cNvSpPr txBox="1"/>
          <p:nvPr/>
        </p:nvSpPr>
        <p:spPr>
          <a:xfrm>
            <a:off x="6144768"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63:15-63:30</a:t>
            </a:r>
            <a:endParaRPr lang="en-US" sz="1050" dirty="0"/>
          </a:p>
        </p:txBody>
      </p:sp>
      <p:sp>
        <p:nvSpPr>
          <p:cNvPr id="23" name="Text 20"/>
          <p:cNvSpPr txBox="1"/>
          <p:nvPr/>
        </p:nvSpPr>
        <p:spPr>
          <a:xfrm>
            <a:off x="7296912" y="1371600"/>
            <a:ext cx="182880" cy="36576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4" name="Shape 21"/>
          <p:cNvSpPr/>
          <p:nvPr/>
        </p:nvSpPr>
        <p:spPr>
          <a:xfrm>
            <a:off x="7452360" y="1051560"/>
            <a:ext cx="1261872" cy="1051560"/>
          </a:xfrm>
          <a:prstGeom prst="roundRect">
            <a:avLst>
              <a:gd name="adj" fmla="val 6957"/>
            </a:avLst>
          </a:prstGeom>
          <a:solidFill>
            <a:schemeClr val="bg2"/>
          </a:solidFill>
          <a:ln w="12700">
            <a:solidFill>
              <a:schemeClr val="bg2"/>
            </a:solidFill>
            <a:prstDash val="solid"/>
          </a:ln>
        </p:spPr>
      </p:sp>
      <p:sp>
        <p:nvSpPr>
          <p:cNvPr id="25" name="Text 22"/>
          <p:cNvSpPr txBox="1"/>
          <p:nvPr/>
        </p:nvSpPr>
        <p:spPr>
          <a:xfrm>
            <a:off x="7543800" y="1115568"/>
            <a:ext cx="1078992" cy="274320"/>
          </a:xfrm>
          <a:prstGeom prst="rect">
            <a:avLst/>
          </a:prstGeom>
          <a:noFill/>
          <a:ln/>
        </p:spPr>
        <p:txBody>
          <a:bodyPr wrap="square" lIns="0" tIns="0" rIns="0" bIns="0" rtlCol="0" anchor="t"/>
          <a:lstStyle/>
          <a:p>
            <a:pPr indent="0" marL="0">
              <a:buNone/>
            </a:pPr>
            <a:r>
              <a:rPr lang="en-US" sz="1100" b="1" dirty="0">
                <a:solidFill>
                  <a:schemeClr val="tx1"/>
                </a:solidFill>
              </a:rPr>
              <a:t>Recap slot</a:t>
            </a:r>
            <a:endParaRPr lang="en-US" sz="1100" dirty="0"/>
          </a:p>
        </p:txBody>
      </p:sp>
      <p:sp>
        <p:nvSpPr>
          <p:cNvPr id="26" name="Text 23"/>
          <p:cNvSpPr txBox="1"/>
          <p:nvPr/>
        </p:nvSpPr>
        <p:spPr>
          <a:xfrm>
            <a:off x="7543800" y="1389888"/>
            <a:ext cx="1078992" cy="685800"/>
          </a:xfrm>
          <a:prstGeom prst="rect">
            <a:avLst/>
          </a:prstGeom>
          <a:noFill/>
          <a:ln/>
        </p:spPr>
        <p:txBody>
          <a:bodyPr wrap="square" lIns="0" tIns="0" rIns="0" bIns="0" rtlCol="0" anchor="t"/>
          <a:lstStyle/>
          <a:p>
            <a:pPr indent="0" marL="0">
              <a:buNone/>
            </a:pPr>
            <a:r>
              <a:rPr lang="en-US" sz="1050" dirty="0">
                <a:solidFill>
                  <a:schemeClr val="tx2"/>
                </a:solidFill>
              </a:rPr>
              <a:t>OpenCV seek / read / write</a:t>
            </a:r>
            <a:endParaRPr lang="en-US" sz="1050" dirty="0"/>
          </a:p>
        </p:txBody>
      </p:sp>
      <p:pic>
        <p:nvPicPr>
          <p:cNvPr id="27" name="Image 0" descr="Frames at the first eight peak points with their time indices">    </p:cNvPr>
          <p:cNvPicPr>
            <a:picLocks noChangeAspect="1"/>
          </p:cNvPicPr>
          <p:nvPr/>
        </p:nvPicPr>
        <p:blipFill>
          <a:blip r:embed="rId1"/>
          <a:stretch>
            <a:fillRect/>
          </a:stretch>
        </p:blipFill>
        <p:spPr>
          <a:xfrm>
            <a:off x="457200" y="2286000"/>
            <a:ext cx="5852160" cy="2194560"/>
          </a:xfrm>
          <a:prstGeom prst="rect">
            <a:avLst/>
          </a:prstGeom>
        </p:spPr>
      </p:pic>
      <p:sp>
        <p:nvSpPr>
          <p:cNvPr id="28" name="Text 24"/>
          <p:cNvSpPr txBox="1"/>
          <p:nvPr/>
        </p:nvSpPr>
        <p:spPr>
          <a:xfrm>
            <a:off x="6492240" y="2331720"/>
            <a:ext cx="2194560" cy="2103120"/>
          </a:xfrm>
          <a:prstGeom prst="rect">
            <a:avLst/>
          </a:prstGeom>
          <a:noFill/>
          <a:ln/>
        </p:spPr>
        <p:txBody>
          <a:bodyPr wrap="square" lIns="0" tIns="0" rIns="0" bIns="0" rtlCol="0" anchor="t"/>
          <a:lstStyle/>
          <a:p>
            <a:pPr indent="0" marL="0">
              <a:buNone/>
            </a:pPr>
            <a:r>
              <a:rPr lang="en-US" sz="1300" dirty="0">
                <a:solidFill>
                  <a:schemeClr val="tx2"/>
                </a:solidFill>
              </a:rPr>
              <a:t>Clips grow with on-topic neighbouring dialogue (≤ 32 s), snap to the nearest shot cut, stay chronological and fit the budget.</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Final movie recap output</a:t>
            </a:r>
            <a:endParaRPr lang="en-US" sz="2800" dirty="0"/>
          </a:p>
        </p:txBody>
      </p:sp>
      <p:pic>
        <p:nvPicPr>
          <p:cNvPr id="4" name="Image 0" descr="Chapter card narrating a story sentence">    </p:cNvPr>
          <p:cNvPicPr>
            <a:picLocks noChangeAspect="1"/>
          </p:cNvPicPr>
          <p:nvPr/>
        </p:nvPicPr>
        <p:blipFill>
          <a:blip r:embed="rId1"/>
          <a:stretch>
            <a:fillRect/>
          </a:stretch>
        </p:blipFill>
        <p:spPr>
          <a:xfrm>
            <a:off x="457200" y="1005840"/>
            <a:ext cx="3291840" cy="246888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3886200" y="1005840"/>
            <a:ext cx="3291840" cy="2468880"/>
          </a:xfrm>
          <a:prstGeom prst="rect">
            <a:avLst/>
          </a:prstGeom>
        </p:spPr>
      </p:pic>
      <p:sp>
        <p:nvSpPr>
          <p:cNvPr id="6" name="Text 1"/>
          <p:cNvSpPr txBox="1"/>
          <p:nvPr/>
        </p:nvSpPr>
        <p:spPr>
          <a:xfrm>
            <a:off x="457200" y="3520440"/>
            <a:ext cx="3291840" cy="274320"/>
          </a:xfrm>
          <a:prstGeom prst="rect">
            <a:avLst/>
          </a:prstGeom>
          <a:noFill/>
          <a:ln/>
        </p:spPr>
        <p:txBody>
          <a:bodyPr wrap="square" lIns="0" tIns="0" rIns="0" bIns="0" rtlCol="0" anchor="t"/>
          <a:lstStyle/>
          <a:p>
            <a:pPr indent="0" marL="0">
              <a:buNone/>
            </a:pPr>
            <a:r>
              <a:rPr lang="en-US" sz="1100" dirty="0">
                <a:solidFill>
                  <a:schemeClr val="accent5"/>
                </a:solidFill>
              </a:rPr>
              <a:t>Chapter card (narrated story sentence)</a:t>
            </a:r>
            <a:endParaRPr lang="en-US" sz="1100" dirty="0"/>
          </a:p>
        </p:txBody>
      </p:sp>
      <p:sp>
        <p:nvSpPr>
          <p:cNvPr id="7" name="Text 2"/>
          <p:cNvSpPr txBox="1"/>
          <p:nvPr/>
        </p:nvSpPr>
        <p:spPr>
          <a:xfrm>
            <a:off x="3886200" y="3520440"/>
            <a:ext cx="3291840" cy="274320"/>
          </a:xfrm>
          <a:prstGeom prst="rect">
            <a:avLst/>
          </a:prstGeom>
          <a:noFill/>
          <a:ln/>
        </p:spPr>
        <p:txBody>
          <a:bodyPr wrap="square" lIns="0" tIns="0" rIns="0" bIns="0" rtlCol="0" anchor="t"/>
          <a:lstStyle/>
          <a:p>
            <a:pPr indent="0" marL="0">
              <a:buNone/>
            </a:pPr>
            <a:r>
              <a:rPr lang="en-US" sz="1100" dirty="0">
                <a:solidFill>
                  <a:schemeClr val="accent5"/>
                </a:solidFill>
              </a:rPr>
              <a:t>▶ Click to play: 21 s excerpt (chapter 23, the climax, + its clip)</a:t>
            </a:r>
            <a:endParaRPr lang="en-US" sz="1100" dirty="0"/>
          </a:p>
        </p:txBody>
      </p:sp>
      <p:sp>
        <p:nvSpPr>
          <p:cNvPr id="8" name="Text 3"/>
          <p:cNvSpPr txBox="1"/>
          <p:nvPr/>
        </p:nvSpPr>
        <p:spPr>
          <a:xfrm>
            <a:off x="7406640" y="960120"/>
            <a:ext cx="137160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8:44</a:t>
            </a:r>
            <a:endParaRPr lang="en-US" sz="3600" dirty="0"/>
          </a:p>
        </p:txBody>
      </p:sp>
      <p:sp>
        <p:nvSpPr>
          <p:cNvPr id="9" name="Text 4"/>
          <p:cNvSpPr txBox="1"/>
          <p:nvPr/>
        </p:nvSpPr>
        <p:spPr>
          <a:xfrm>
            <a:off x="7406640" y="1645920"/>
            <a:ext cx="1371600" cy="411480"/>
          </a:xfrm>
          <a:prstGeom prst="rect">
            <a:avLst/>
          </a:prstGeom>
          <a:noFill/>
          <a:ln/>
        </p:spPr>
        <p:txBody>
          <a:bodyPr wrap="square" lIns="0" tIns="0" rIns="0" bIns="0" rtlCol="0" anchor="t"/>
          <a:lstStyle/>
          <a:p>
            <a:pPr indent="0" marL="0">
              <a:buNone/>
            </a:pPr>
            <a:r>
              <a:rPr lang="en-US" sz="1200" dirty="0">
                <a:solidFill>
                  <a:schemeClr val="accent5"/>
                </a:solidFill>
              </a:rPr>
              <a:t>recap (&lt; 10:00)</a:t>
            </a:r>
            <a:endParaRPr lang="en-US" sz="1200" dirty="0"/>
          </a:p>
        </p:txBody>
      </p:sp>
      <p:sp>
        <p:nvSpPr>
          <p:cNvPr id="10" name="Text 5"/>
          <p:cNvSpPr txBox="1"/>
          <p:nvPr/>
        </p:nvSpPr>
        <p:spPr>
          <a:xfrm>
            <a:off x="7406640" y="2103120"/>
            <a:ext cx="137160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5.5</a:t>
            </a:r>
            <a:endParaRPr lang="en-US" sz="3600" dirty="0"/>
          </a:p>
        </p:txBody>
      </p:sp>
      <p:sp>
        <p:nvSpPr>
          <p:cNvPr id="11" name="Text 6"/>
          <p:cNvSpPr txBox="1"/>
          <p:nvPr/>
        </p:nvSpPr>
        <p:spPr>
          <a:xfrm>
            <a:off x="7406640" y="2788920"/>
            <a:ext cx="1371600" cy="411480"/>
          </a:xfrm>
          <a:prstGeom prst="rect">
            <a:avLst/>
          </a:prstGeom>
          <a:noFill/>
          <a:ln/>
        </p:spPr>
        <p:txBody>
          <a:bodyPr wrap="square" lIns="0" tIns="0" rIns="0" bIns="0" rtlCol="0" anchor="t"/>
          <a:lstStyle/>
          <a:p>
            <a:pPr indent="0" marL="0">
              <a:buNone/>
            </a:pPr>
            <a:r>
              <a:rPr lang="en-US" sz="1200" dirty="0">
                <a:solidFill>
                  <a:schemeClr val="accent5"/>
                </a:solidFill>
              </a:rPr>
              <a:t>minutes of original footage</a:t>
            </a:r>
            <a:endParaRPr lang="en-US" sz="1200" dirty="0"/>
          </a:p>
        </p:txBody>
      </p:sp>
      <p:sp>
        <p:nvSpPr>
          <p:cNvPr id="12" name="Text 7"/>
          <p:cNvSpPr txBox="1"/>
          <p:nvPr/>
        </p:nvSpPr>
        <p:spPr>
          <a:xfrm>
            <a:off x="7406640" y="3246120"/>
            <a:ext cx="137160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7.7×</a:t>
            </a:r>
            <a:endParaRPr lang="en-US" sz="3600" dirty="0"/>
          </a:p>
        </p:txBody>
      </p:sp>
      <p:sp>
        <p:nvSpPr>
          <p:cNvPr id="13" name="Text 8"/>
          <p:cNvSpPr txBox="1"/>
          <p:nvPr/>
        </p:nvSpPr>
        <p:spPr>
          <a:xfrm>
            <a:off x="7406640" y="3931920"/>
            <a:ext cx="1371600" cy="411480"/>
          </a:xfrm>
          <a:prstGeom prst="rect">
            <a:avLst/>
          </a:prstGeom>
          <a:noFill/>
          <a:ln/>
        </p:spPr>
        <p:txBody>
          <a:bodyPr wrap="square" lIns="0" tIns="0" rIns="0" bIns="0" rtlCol="0" anchor="t"/>
          <a:lstStyle/>
          <a:p>
            <a:pPr indent="0" marL="0">
              <a:buNone/>
            </a:pPr>
            <a:r>
              <a:rPr lang="en-US" sz="1200" dirty="0">
                <a:solidFill>
                  <a:schemeClr val="accent5"/>
                </a:solidFill>
              </a:rPr>
              <a:t>compression</a:t>
            </a:r>
            <a:endParaRPr lang="en-US" sz="1200" dirty="0"/>
          </a:p>
        </p:txBody>
      </p:sp>
      <p:sp>
        <p:nvSpPr>
          <p:cNvPr id="14" name="Text 9"/>
          <p:cNvSpPr txBox="1"/>
          <p:nvPr/>
        </p:nvSpPr>
        <p:spPr>
          <a:xfrm>
            <a:off x="457200" y="4023360"/>
            <a:ext cx="6766560" cy="320040"/>
          </a:xfrm>
          <a:prstGeom prst="rect">
            <a:avLst/>
          </a:prstGeom>
          <a:noFill/>
          <a:ln/>
        </p:spPr>
        <p:txBody>
          <a:bodyPr wrap="square" lIns="0" tIns="0" rIns="0" bIns="0" rtlCol="0" anchor="t"/>
          <a:lstStyle/>
          <a:p>
            <a:pPr indent="0" marL="0">
              <a:buNone/>
            </a:pPr>
            <a:r>
              <a:rPr lang="en-US" sz="1100" dirty="0">
                <a:solidFill>
                  <a:schemeClr val="accent5"/>
                </a:solidFill>
              </a:rPr>
              <a:t>outputs/detour_1945/movie_recap.mp4  ·  movie_recap.srt  ·  recap_edl.csv</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Evaluation: summary vs. the human plot (BLEU)</a:t>
            </a:r>
            <a:endParaRPr lang="en-US" sz="2800" dirty="0"/>
          </a:p>
        </p:txBody>
      </p:sp>
      <p:graphicFrame>
        <p:nvGraphicFramePr>
          <p:cNvPr id="4" name="Chart 0" descr=""/>
          <p:cNvGraphicFramePr/>
          <p:nvPr/>
        </p:nvGraphicFramePr>
        <p:xfrm>
          <a:off x="457200" y="1005840"/>
          <a:ext cx="40233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005840"/>
          <a:ext cx="4023360" cy="265176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457200" y="3749040"/>
            <a:ext cx="8229600" cy="777240"/>
          </a:xfrm>
          <a:prstGeom prst="rect">
            <a:avLst/>
          </a:prstGeom>
          <a:noFill/>
          <a:ln/>
        </p:spPr>
        <p:txBody>
          <a:bodyPr wrap="square" lIns="0" tIns="0" rIns="0" bIns="0" rtlCol="0" anchor="t"/>
          <a:lstStyle/>
          <a:p>
            <a:pPr indent="0" marL="0">
              <a:buNone/>
            </a:pPr>
            <a:r>
              <a:rPr lang="en-US" sz="1250" b="1" dirty="0">
                <a:solidFill>
                  <a:schemeClr val="tx1"/>
                </a:solidFill>
              </a:rPr>
              <a:t>Why BLEU is low for everyone: </a:t>
            </a:r>
            <a:pPr indent="0" marL="0">
              <a:buNone/>
            </a:pPr>
            <a:r>
              <a:rPr lang="en-US" sz="1250" dirty="0">
                <a:solidFill>
                  <a:schemeClr val="tx2"/>
                </a:solidFill>
              </a:rPr>
              <a:t>BLEU counts exact 4-word overlaps; independent summaries rarely share phrasing, and the story (410 words) is shorter than the 526-word reference (brevity penalty 0.76). The ranking against baselines is the meaningful signal.</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Recap fidelity and multimodal ablation</a:t>
            </a:r>
            <a:endParaRPr lang="en-US" sz="2800" dirty="0"/>
          </a:p>
        </p:txBody>
      </p:sp>
      <p:sp>
        <p:nvSpPr>
          <p:cNvPr id="4" name="Shape 1"/>
          <p:cNvSpPr/>
          <p:nvPr/>
        </p:nvSpPr>
        <p:spPr>
          <a:xfrm>
            <a:off x="457200" y="1051560"/>
            <a:ext cx="3931920" cy="3429000"/>
          </a:xfrm>
          <a:prstGeom prst="roundRect">
            <a:avLst>
              <a:gd name="adj" fmla="val 2133"/>
            </a:avLst>
          </a:prstGeom>
          <a:solidFill>
            <a:schemeClr val="bg2"/>
          </a:solidFill>
          <a:ln w="12700">
            <a:solidFill>
              <a:schemeClr val="bg2"/>
            </a:solidFill>
            <a:prstDash val="solid"/>
          </a:ln>
        </p:spPr>
      </p:sp>
      <p:sp>
        <p:nvSpPr>
          <p:cNvPr id="5" name="Text 2"/>
          <p:cNvSpPr txBox="1"/>
          <p:nvPr/>
        </p:nvSpPr>
        <p:spPr>
          <a:xfrm>
            <a:off x="685800" y="1188720"/>
            <a:ext cx="3566160" cy="320040"/>
          </a:xfrm>
          <a:prstGeom prst="rect">
            <a:avLst/>
          </a:prstGeom>
          <a:noFill/>
          <a:ln/>
        </p:spPr>
        <p:txBody>
          <a:bodyPr wrap="square" lIns="0" tIns="0" rIns="0" bIns="0" rtlCol="0" anchor="t"/>
          <a:lstStyle/>
          <a:p>
            <a:pPr indent="0" marL="0">
              <a:buNone/>
            </a:pPr>
            <a:r>
              <a:rPr lang="en-US" sz="1400" b="1" dirty="0">
                <a:solidFill>
                  <a:schemeClr val="tx1"/>
                </a:solidFill>
              </a:rPr>
              <a:t>Recap re-transcribed clip by clip</a:t>
            </a:r>
            <a:endParaRPr lang="en-US" sz="1400" dirty="0"/>
          </a:p>
        </p:txBody>
      </p:sp>
      <p:sp>
        <p:nvSpPr>
          <p:cNvPr id="6" name="Text 3"/>
          <p:cNvSpPr txBox="1"/>
          <p:nvPr/>
        </p:nvSpPr>
        <p:spPr>
          <a:xfrm>
            <a:off x="685800" y="1645920"/>
            <a:ext cx="173736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0.73</a:t>
            </a:r>
            <a:endParaRPr lang="en-US" sz="3600" dirty="0"/>
          </a:p>
        </p:txBody>
      </p:sp>
      <p:sp>
        <p:nvSpPr>
          <p:cNvPr id="7" name="Text 4"/>
          <p:cNvSpPr txBox="1"/>
          <p:nvPr/>
        </p:nvSpPr>
        <p:spPr>
          <a:xfrm>
            <a:off x="685800" y="2331720"/>
            <a:ext cx="1737360" cy="411480"/>
          </a:xfrm>
          <a:prstGeom prst="rect">
            <a:avLst/>
          </a:prstGeom>
          <a:noFill/>
          <a:ln/>
        </p:spPr>
        <p:txBody>
          <a:bodyPr wrap="square" lIns="0" tIns="0" rIns="0" bIns="0" rtlCol="0" anchor="t"/>
          <a:lstStyle/>
          <a:p>
            <a:pPr indent="0" marL="0">
              <a:buNone/>
            </a:pPr>
            <a:r>
              <a:rPr lang="en-US" sz="1200" dirty="0">
                <a:solidFill>
                  <a:schemeClr val="accent5"/>
                </a:solidFill>
              </a:rPr>
              <a:t>mean clip BLEU (&gt; 0.7 target)</a:t>
            </a:r>
            <a:endParaRPr lang="en-US" sz="1200" dirty="0"/>
          </a:p>
        </p:txBody>
      </p:sp>
      <p:sp>
        <p:nvSpPr>
          <p:cNvPr id="8" name="Text 5"/>
          <p:cNvSpPr txBox="1"/>
          <p:nvPr/>
        </p:nvSpPr>
        <p:spPr>
          <a:xfrm>
            <a:off x="2514600" y="1645920"/>
            <a:ext cx="173736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92%</a:t>
            </a:r>
            <a:endParaRPr lang="en-US" sz="3600" dirty="0"/>
          </a:p>
        </p:txBody>
      </p:sp>
      <p:sp>
        <p:nvSpPr>
          <p:cNvPr id="9" name="Text 6"/>
          <p:cNvSpPr txBox="1"/>
          <p:nvPr/>
        </p:nvSpPr>
        <p:spPr>
          <a:xfrm>
            <a:off x="2514600" y="2331720"/>
            <a:ext cx="1737360" cy="411480"/>
          </a:xfrm>
          <a:prstGeom prst="rect">
            <a:avLst/>
          </a:prstGeom>
          <a:noFill/>
          <a:ln/>
        </p:spPr>
        <p:txBody>
          <a:bodyPr wrap="square" lIns="0" tIns="0" rIns="0" bIns="0" rtlCol="0" anchor="t"/>
          <a:lstStyle/>
          <a:p>
            <a:pPr indent="0" marL="0">
              <a:buNone/>
            </a:pPr>
            <a:r>
              <a:rPr lang="en-US" sz="1200" dirty="0">
                <a:solidFill>
                  <a:schemeClr val="accent5"/>
                </a:solidFill>
              </a:rPr>
              <a:t>peak lines heard in their clip</a:t>
            </a:r>
            <a:endParaRPr lang="en-US" sz="1200" dirty="0"/>
          </a:p>
        </p:txBody>
      </p:sp>
      <p:sp>
        <p:nvSpPr>
          <p:cNvPr id="10" name="Text 7"/>
          <p:cNvSpPr txBox="1"/>
          <p:nvPr/>
        </p:nvSpPr>
        <p:spPr>
          <a:xfrm>
            <a:off x="685800" y="2834640"/>
            <a:ext cx="173736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0.97</a:t>
            </a:r>
            <a:endParaRPr lang="en-US" sz="3600" dirty="0"/>
          </a:p>
        </p:txBody>
      </p:sp>
      <p:sp>
        <p:nvSpPr>
          <p:cNvPr id="11" name="Text 8"/>
          <p:cNvSpPr txBox="1"/>
          <p:nvPr/>
        </p:nvSpPr>
        <p:spPr>
          <a:xfrm>
            <a:off x="685800" y="3520440"/>
            <a:ext cx="1737360" cy="411480"/>
          </a:xfrm>
          <a:prstGeom prst="rect">
            <a:avLst/>
          </a:prstGeom>
          <a:noFill/>
          <a:ln/>
        </p:spPr>
        <p:txBody>
          <a:bodyPr wrap="square" lIns="0" tIns="0" rIns="0" bIns="0" rtlCol="0" anchor="t"/>
          <a:lstStyle/>
          <a:p>
            <a:pPr indent="0" marL="0">
              <a:buNone/>
            </a:pPr>
            <a:r>
              <a:rPr lang="en-US" sz="1200" dirty="0">
                <a:solidFill>
                  <a:schemeClr val="accent5"/>
                </a:solidFill>
              </a:rPr>
              <a:t>narration intelligibility</a:t>
            </a:r>
            <a:endParaRPr lang="en-US" sz="1200" dirty="0"/>
          </a:p>
        </p:txBody>
      </p:sp>
      <p:sp>
        <p:nvSpPr>
          <p:cNvPr id="12" name="Text 9"/>
          <p:cNvSpPr txBox="1"/>
          <p:nvPr/>
        </p:nvSpPr>
        <p:spPr>
          <a:xfrm>
            <a:off x="2514600" y="2834640"/>
            <a:ext cx="1737360"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0.77</a:t>
            </a:r>
            <a:endParaRPr lang="en-US" sz="3600" dirty="0"/>
          </a:p>
        </p:txBody>
      </p:sp>
      <p:sp>
        <p:nvSpPr>
          <p:cNvPr id="13" name="Text 10"/>
          <p:cNvSpPr txBox="1"/>
          <p:nvPr/>
        </p:nvSpPr>
        <p:spPr>
          <a:xfrm>
            <a:off x="2514600" y="3520440"/>
            <a:ext cx="1737360" cy="411480"/>
          </a:xfrm>
          <a:prstGeom prst="rect">
            <a:avLst/>
          </a:prstGeom>
          <a:noFill/>
          <a:ln/>
        </p:spPr>
        <p:txBody>
          <a:bodyPr wrap="square" lIns="0" tIns="0" rIns="0" bIns="0" rtlCol="0" anchor="t"/>
          <a:lstStyle/>
          <a:p>
            <a:pPr indent="0" marL="0">
              <a:buNone/>
            </a:pPr>
            <a:r>
              <a:rPr lang="en-US" sz="1200" dirty="0">
                <a:solidFill>
                  <a:schemeClr val="accent5"/>
                </a:solidFill>
              </a:rPr>
              <a:t>median clip BLEU</a:t>
            </a:r>
            <a:endParaRPr lang="en-US" sz="1200" dirty="0"/>
          </a:p>
        </p:txBody>
      </p:sp>
      <p:sp>
        <p:nvSpPr>
          <p:cNvPr id="14" name="Text 11"/>
          <p:cNvSpPr txBox="1"/>
          <p:nvPr/>
        </p:nvSpPr>
        <p:spPr>
          <a:xfrm>
            <a:off x="4663440" y="1188720"/>
            <a:ext cx="4023360" cy="320040"/>
          </a:xfrm>
          <a:prstGeom prst="rect">
            <a:avLst/>
          </a:prstGeom>
          <a:noFill/>
          <a:ln/>
        </p:spPr>
        <p:txBody>
          <a:bodyPr wrap="square" lIns="0" tIns="0" rIns="0" bIns="0" rtlCol="0" anchor="t"/>
          <a:lstStyle/>
          <a:p>
            <a:pPr indent="0" marL="0">
              <a:buNone/>
            </a:pPr>
            <a:r>
              <a:rPr lang="en-US" sz="1400" b="1" dirty="0">
                <a:solidFill>
                  <a:schemeClr val="tx1"/>
                </a:solidFill>
              </a:rPr>
              <a:t>Text-only vs. multimodal peak selection</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663440" y="1645920"/>
          <a:ext cx="4023360" cy="914400"/>
        </p:xfrm>
        <a:graphic>
          <a:graphicData uri="http://schemas.openxmlformats.org/drawingml/2006/table">
            <a:tbl>
              <a:tblPr/>
              <a:tblGrid>
                <a:gridCol w="1828800"/>
                <a:gridCol w="1097280"/>
                <a:gridCol w="1097280"/>
              </a:tblGrid>
              <a:tr h="329184">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Signal of chosen peaks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Text only</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Fusion</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r>
              <a:tr h="329184">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Semantic</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Text emotion</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0.77</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Audio arousal</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0.57</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Visual activity</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bl>
          </a:graphicData>
        </a:graphic>
      </p:graphicFrame>
      <p:sp>
        <p:nvSpPr>
          <p:cNvPr id="16" name="Text 12"/>
          <p:cNvSpPr txBox="1"/>
          <p:nvPr/>
        </p:nvSpPr>
        <p:spPr>
          <a:xfrm>
            <a:off x="4663440" y="3520440"/>
            <a:ext cx="4023360" cy="822960"/>
          </a:xfrm>
          <a:prstGeom prst="rect">
            <a:avLst/>
          </a:prstGeom>
          <a:noFill/>
          <a:ln/>
        </p:spPr>
        <p:txBody>
          <a:bodyPr wrap="square" lIns="0" tIns="0" rIns="0" bIns="0" rtlCol="0" anchor="t"/>
          <a:lstStyle/>
          <a:p>
            <a:pPr indent="0" marL="0">
              <a:buNone/>
            </a:pPr>
            <a:r>
              <a:rPr lang="en-US" sz="1300" dirty="0">
                <a:solidFill>
                  <a:schemeClr val="tx2"/>
                </a:solidFill>
              </a:rPr>
              <a:t>Fusion moved 13 of 24 peaks (mean 12.4 s) toward the more dramatic line in the same scene.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457200" y="228600"/>
            <a:ext cx="8229600" cy="6858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Model comparison: choosing the summariser</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40280"/>
                <a:gridCol w="1143000"/>
                <a:gridCol w="822960"/>
                <a:gridCol w="914400"/>
                <a:gridCol w="914400"/>
                <a:gridCol w="2194560"/>
              </a:tblGrid>
              <a:tr h="384048">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Story</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BLEU-4</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Semantic</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Clip BLEU</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2F1EE"/>
                    </a:solidFill>
                  </a:tcPr>
                </a:tc>
              </a:tr>
              <a:tr h="384048">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3B, rolling context</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26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0.047</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Role confusion</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3B, + cast list</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24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0.050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Names in wrong scenes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3B, + name grounding</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24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0.040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Copies its own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7B, rolling context (run E)</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13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0.030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Vera named too early; no climax</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7B, notes + editor + checks (chosen)</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24 sentences</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0.040</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c>
                  <a:txBody>
                    <a:bodyPr/>
                    <a:lstStyle/>
                    <a:p>
                      <a:pPr algn="ctr" indent="0" marL="0">
                        <a:buNone/>
                      </a:pPr>
                      <a:r>
                        <a:rPr lang="en-US" sz="1200" b="1" dirty="0">
                          <a:solidFill>
                            <a:srgbClr val="2B2B2B"/>
                          </a:solidFill>
                          <a:latin typeface="Calibri" pitchFamily="34" charset="0"/>
                          <a:ea typeface="Calibri" pitchFamily="34" charset="-122"/>
                          <a:cs typeface="Calibri" pitchFamily="34" charset="-120"/>
                        </a:rPr>
                        <a:t>0.73</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c>
                  <a:txBody>
                    <a:bodyPr/>
                    <a:lstStyle/>
                    <a:p>
                      <a:pPr algn="l" indent="0" marL="0">
                        <a:buNone/>
                      </a:pPr>
                      <a:r>
                        <a:rPr lang="en-US" sz="1200" b="1" dirty="0">
                          <a:solidFill>
                            <a:srgbClr val="2B2B2B"/>
                          </a:solidFill>
                          <a:latin typeface="Calibri" pitchFamily="34" charset="0"/>
                          <a:ea typeface="Calibri" pitchFamily="34" charset="-122"/>
                          <a:cs typeface="Calibri" pitchFamily="34" charset="-120"/>
                        </a:rPr>
                        <a:t>Grounded roles, climax and ending</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BE9CC"/>
                    </a:solidFill>
                  </a:tcPr>
                </a:tc>
              </a:tr>
              <a:tr h="384048">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TextRank (extractive)</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same length</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0.021</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B2B2B"/>
                          </a:solidFill>
                          <a:latin typeface="Calibri" pitchFamily="34" charset="0"/>
                          <a:ea typeface="Calibri" pitchFamily="34" charset="-122"/>
                          <a:cs typeface="Calibri" pitchFamily="34" charset="-120"/>
                        </a:rPr>
                        <a:t>No story; fallback only</a:t>
                      </a:r>
                      <a:endParaRPr lang="en-US" sz="1200" dirty="0">
                        <a:latin typeface="Calibri" charset="0"/>
                        <a:ea typeface="Calibri" charset="0"/>
                        <a:cs typeface="Calibri" charset="0"/>
                      </a:endParaRPr>
                    </a:p>
                  </a:txBody>
                  <a:tcPr marL="91440" marR="91440" marT="45720" marB="45720">
                    <a:lnL w="6350" cap="flat" cmpd="sng" algn="ctr">
                      <a:solidFill>
                        <a:srgbClr val="D9D8D3"/>
                      </a:solidFill>
                      <a:prstDash val="solid"/>
                      <a:round/>
                      <a:headEnd type="none" w="med" len="med"/>
                      <a:tailEnd type="none" w="med" len="med"/>
                    </a:lnL>
                    <a:lnR w="6350" cap="flat" cmpd="sng" algn="ctr">
                      <a:solidFill>
                        <a:srgbClr val="D9D8D3"/>
                      </a:solidFill>
                      <a:prstDash val="solid"/>
                      <a:round/>
                      <a:headEnd type="none" w="med" len="med"/>
                      <a:tailEnd type="none" w="med" len="med"/>
                    </a:lnR>
                    <a:lnT w="6350" cap="flat" cmpd="sng" algn="ctr">
                      <a:solidFill>
                        <a:srgbClr val="D9D8D3"/>
                      </a:solidFill>
                      <a:prstDash val="solid"/>
                      <a:round/>
                      <a:headEnd type="none" w="med" len="med"/>
                      <a:tailEnd type="none" w="med" len="med"/>
                    </a:lnT>
                    <a:lnB w="6350" cap="flat" cmpd="sng" algn="ctr">
                      <a:solidFill>
                        <a:srgbClr val="D9D8D3"/>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886200"/>
            <a:ext cx="8229600" cy="640080"/>
          </a:xfrm>
          <a:prstGeom prst="rect">
            <a:avLst/>
          </a:prstGeom>
          <a:noFill/>
          <a:ln/>
        </p:spPr>
        <p:txBody>
          <a:bodyPr wrap="square" lIns="0" tIns="0" rIns="0" bIns="0" rtlCol="0" anchor="t"/>
          <a:lstStyle/>
          <a:p>
            <a:pPr indent="0" marL="0">
              <a:buNone/>
            </a:pPr>
            <a:r>
              <a:rPr lang="en-US" sz="1300" dirty="0">
                <a:solidFill>
                  <a:schemeClr val="tx2"/>
                </a:solidFill>
              </a:rPr>
              <a:t>BLEU-4 0.030 (run E) → 0.040 (chosen). Grounded notes and two rule-based checks fix the early naming of Vera and restore the climax; three role errors remain without speaker labels.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Key observations and conclusion</a:t>
            </a:r>
            <a:endParaRPr lang="en-US" sz="2800" dirty="0"/>
          </a:p>
        </p:txBody>
      </p:sp>
      <p:sp>
        <p:nvSpPr>
          <p:cNvPr id="4" name="Text 1"/>
          <p:cNvSpPr txBox="1"/>
          <p:nvPr/>
        </p:nvSpPr>
        <p:spPr>
          <a:xfrm>
            <a:off x="457200" y="105156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8:44</a:t>
            </a:r>
            <a:endParaRPr lang="en-US" sz="3600" dirty="0"/>
          </a:p>
        </p:txBody>
      </p:sp>
      <p:sp>
        <p:nvSpPr>
          <p:cNvPr id="5" name="Text 2"/>
          <p:cNvSpPr txBox="1"/>
          <p:nvPr/>
        </p:nvSpPr>
        <p:spPr>
          <a:xfrm>
            <a:off x="457200" y="1737360"/>
            <a:ext cx="1920240" cy="411480"/>
          </a:xfrm>
          <a:prstGeom prst="rect">
            <a:avLst/>
          </a:prstGeom>
          <a:noFill/>
          <a:ln/>
        </p:spPr>
        <p:txBody>
          <a:bodyPr wrap="square" lIns="0" tIns="0" rIns="0" bIns="0" rtlCol="0" anchor="t"/>
          <a:lstStyle/>
          <a:p>
            <a:pPr indent="0" marL="0">
              <a:buNone/>
            </a:pPr>
            <a:r>
              <a:rPr lang="en-US" sz="1200" dirty="0">
                <a:solidFill>
                  <a:schemeClr val="bg2"/>
                </a:solidFill>
              </a:rPr>
              <a:t>recap from a 67:38 film, CPU only</a:t>
            </a:r>
            <a:endParaRPr lang="en-US" sz="1200" dirty="0"/>
          </a:p>
        </p:txBody>
      </p:sp>
      <p:sp>
        <p:nvSpPr>
          <p:cNvPr id="6" name="Text 3"/>
          <p:cNvSpPr txBox="1"/>
          <p:nvPr/>
        </p:nvSpPr>
        <p:spPr>
          <a:xfrm>
            <a:off x="457200" y="22402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0.73</a:t>
            </a:r>
            <a:endParaRPr lang="en-US" sz="3600" dirty="0"/>
          </a:p>
        </p:txBody>
      </p:sp>
      <p:sp>
        <p:nvSpPr>
          <p:cNvPr id="7" name="Text 4"/>
          <p:cNvSpPr txBox="1"/>
          <p:nvPr/>
        </p:nvSpPr>
        <p:spPr>
          <a:xfrm>
            <a:off x="457200" y="2926080"/>
            <a:ext cx="1920240" cy="411480"/>
          </a:xfrm>
          <a:prstGeom prst="rect">
            <a:avLst/>
          </a:prstGeom>
          <a:noFill/>
          <a:ln/>
        </p:spPr>
        <p:txBody>
          <a:bodyPr wrap="square" lIns="0" tIns="0" rIns="0" bIns="0" rtlCol="0" anchor="t"/>
          <a:lstStyle/>
          <a:p>
            <a:pPr indent="0" marL="0">
              <a:buNone/>
            </a:pPr>
            <a:r>
              <a:rPr lang="en-US" sz="1200" dirty="0">
                <a:solidFill>
                  <a:schemeClr val="bg2"/>
                </a:solidFill>
              </a:rPr>
              <a:t>clip fidelity BLEU</a:t>
            </a:r>
            <a:endParaRPr lang="en-US" sz="1200" dirty="0"/>
          </a:p>
        </p:txBody>
      </p:sp>
      <p:sp>
        <p:nvSpPr>
          <p:cNvPr id="8" name="Text 5"/>
          <p:cNvSpPr txBox="1"/>
          <p:nvPr/>
        </p:nvSpPr>
        <p:spPr>
          <a:xfrm>
            <a:off x="457200" y="34290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 / 9</a:t>
            </a:r>
            <a:endParaRPr lang="en-US" sz="3600" dirty="0"/>
          </a:p>
        </p:txBody>
      </p:sp>
      <p:sp>
        <p:nvSpPr>
          <p:cNvPr id="9" name="Text 6"/>
          <p:cNvSpPr txBox="1"/>
          <p:nvPr/>
        </p:nvSpPr>
        <p:spPr>
          <a:xfrm>
            <a:off x="457200" y="4114800"/>
            <a:ext cx="1920240" cy="411480"/>
          </a:xfrm>
          <a:prstGeom prst="rect">
            <a:avLst/>
          </a:prstGeom>
          <a:noFill/>
          <a:ln/>
        </p:spPr>
        <p:txBody>
          <a:bodyPr wrap="square" lIns="0" tIns="0" rIns="0" bIns="0" rtlCol="0" anchor="t"/>
          <a:lstStyle/>
          <a:p>
            <a:pPr indent="0" marL="0">
              <a:buNone/>
            </a:pPr>
            <a:r>
              <a:rPr lang="en-US" sz="1200" dirty="0">
                <a:solidFill>
                  <a:schemeClr val="bg2"/>
                </a:solidFill>
              </a:rPr>
              <a:t>metrics where the story beats every baseline</a:t>
            </a:r>
            <a:endParaRPr lang="en-US" sz="1200" dirty="0"/>
          </a:p>
        </p:txBody>
      </p:sp>
      <p:sp>
        <p:nvSpPr>
          <p:cNvPr id="10" name="badge 1"/>
          <p:cNvSpPr/>
          <p:nvPr/>
        </p:nvSpPr>
        <p:spPr>
          <a:xfrm>
            <a:off x="2834640" y="1097280"/>
            <a:ext cx="347472" cy="347472"/>
          </a:xfrm>
          <a:prstGeom prst="ellipse">
            <a:avLst/>
          </a:prstGeom>
          <a:solidFill>
            <a:schemeClr val="accent1"/>
          </a:solidFill>
          <a:ln w="12700">
            <a:solidFill>
              <a:schemeClr val="accent1"/>
            </a:solidFill>
            <a:prstDash val="solid"/>
          </a:ln>
        </p:spPr>
      </p:sp>
      <p:sp>
        <p:nvSpPr>
          <p:cNvPr id="11" name="Text 8"/>
          <p:cNvSpPr txBox="1"/>
          <p:nvPr/>
        </p:nvSpPr>
        <p:spPr>
          <a:xfrm>
            <a:off x="2834640" y="109728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2" name="Text 9"/>
          <p:cNvSpPr txBox="1"/>
          <p:nvPr/>
        </p:nvSpPr>
        <p:spPr>
          <a:xfrm>
            <a:off x="3337560" y="1051560"/>
            <a:ext cx="5349240" cy="320040"/>
          </a:xfrm>
          <a:prstGeom prst="rect">
            <a:avLst/>
          </a:prstGeom>
          <a:noFill/>
          <a:ln/>
        </p:spPr>
        <p:txBody>
          <a:bodyPr wrap="square" lIns="0" tIns="0" rIns="0" bIns="0" rtlCol="0" anchor="t"/>
          <a:lstStyle/>
          <a:p>
            <a:pPr indent="0" marL="0">
              <a:buNone/>
            </a:pPr>
            <a:r>
              <a:rPr lang="en-US" sz="1500" b="1" dirty="0">
                <a:solidFill>
                  <a:schemeClr val="bg1"/>
                </a:solidFill>
              </a:rPr>
              <a:t>Carry the time index through every stage</a:t>
            </a:r>
            <a:endParaRPr lang="en-US" sz="1500" dirty="0"/>
          </a:p>
        </p:txBody>
      </p:sp>
      <p:sp>
        <p:nvSpPr>
          <p:cNvPr id="13" name="Text 10"/>
          <p:cNvSpPr txBox="1"/>
          <p:nvPr/>
        </p:nvSpPr>
        <p:spPr>
          <a:xfrm>
            <a:off x="3337560" y="1371600"/>
            <a:ext cx="5349240" cy="411480"/>
          </a:xfrm>
          <a:prstGeom prst="rect">
            <a:avLst/>
          </a:prstGeom>
          <a:noFill/>
          <a:ln/>
        </p:spPr>
        <p:txBody>
          <a:bodyPr wrap="square" lIns="0" tIns="0" rIns="0" bIns="0" rtlCol="0" anchor="t"/>
          <a:lstStyle/>
          <a:p>
            <a:pPr indent="0" marL="0">
              <a:buNone/>
            </a:pPr>
            <a:r>
              <a:rPr lang="en-US" sz="1250" dirty="0">
                <a:solidFill>
                  <a:schemeClr val="bg2"/>
                </a:solidFill>
              </a:rPr>
              <a:t>chunk span → aligned window → peak line → clip → recap slot makes every claim traceable</a:t>
            </a:r>
            <a:endParaRPr lang="en-US" sz="1250" dirty="0"/>
          </a:p>
        </p:txBody>
      </p:sp>
      <p:sp>
        <p:nvSpPr>
          <p:cNvPr id="14" name="badge 2"/>
          <p:cNvSpPr/>
          <p:nvPr/>
        </p:nvSpPr>
        <p:spPr>
          <a:xfrm>
            <a:off x="2834640" y="1965960"/>
            <a:ext cx="347472" cy="347472"/>
          </a:xfrm>
          <a:prstGeom prst="ellipse">
            <a:avLst/>
          </a:prstGeom>
          <a:solidFill>
            <a:schemeClr val="accent1"/>
          </a:solidFill>
          <a:ln w="12700">
            <a:solidFill>
              <a:schemeClr val="accent1"/>
            </a:solidFill>
            <a:prstDash val="solid"/>
          </a:ln>
        </p:spPr>
      </p:sp>
      <p:sp>
        <p:nvSpPr>
          <p:cNvPr id="15" name="Text 12"/>
          <p:cNvSpPr txBox="1"/>
          <p:nvPr/>
        </p:nvSpPr>
        <p:spPr>
          <a:xfrm>
            <a:off x="2834640" y="196596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6" name="Text 13"/>
          <p:cNvSpPr txBox="1"/>
          <p:nvPr/>
        </p:nvSpPr>
        <p:spPr>
          <a:xfrm>
            <a:off x="3337560" y="1920240"/>
            <a:ext cx="5349240" cy="320040"/>
          </a:xfrm>
          <a:prstGeom prst="rect">
            <a:avLst/>
          </a:prstGeom>
          <a:noFill/>
          <a:ln/>
        </p:spPr>
        <p:txBody>
          <a:bodyPr wrap="square" lIns="0" tIns="0" rIns="0" bIns="0" rtlCol="0" anchor="t"/>
          <a:lstStyle/>
          <a:p>
            <a:pPr indent="0" marL="0">
              <a:buNone/>
            </a:pPr>
            <a:r>
              <a:rPr lang="en-US" sz="1500" b="1" dirty="0">
                <a:solidFill>
                  <a:schemeClr val="bg1"/>
                </a:solidFill>
              </a:rPr>
              <a:t>Modalities complement each other</a:t>
            </a:r>
            <a:endParaRPr lang="en-US" sz="1500" dirty="0"/>
          </a:p>
        </p:txBody>
      </p:sp>
      <p:sp>
        <p:nvSpPr>
          <p:cNvPr id="17" name="Text 14"/>
          <p:cNvSpPr txBox="1"/>
          <p:nvPr/>
        </p:nvSpPr>
        <p:spPr>
          <a:xfrm>
            <a:off x="3337560" y="2240280"/>
            <a:ext cx="5349240" cy="411480"/>
          </a:xfrm>
          <a:prstGeom prst="rect">
            <a:avLst/>
          </a:prstGeom>
          <a:noFill/>
          <a:ln/>
        </p:spPr>
        <p:txBody>
          <a:bodyPr wrap="square" lIns="0" tIns="0" rIns="0" bIns="0" rtlCol="0" anchor="t"/>
          <a:lstStyle/>
          <a:p>
            <a:pPr indent="0" marL="0">
              <a:buNone/>
            </a:pPr>
            <a:r>
              <a:rPr lang="en-US" sz="1250" dirty="0">
                <a:solidFill>
                  <a:schemeClr val="bg2"/>
                </a:solidFill>
              </a:rPr>
              <a:t>text picks the scene; audio, video and emotion pick the moment</a:t>
            </a:r>
            <a:endParaRPr lang="en-US" sz="1250" dirty="0"/>
          </a:p>
        </p:txBody>
      </p:sp>
      <p:sp>
        <p:nvSpPr>
          <p:cNvPr id="18" name="badge 3"/>
          <p:cNvSpPr/>
          <p:nvPr/>
        </p:nvSpPr>
        <p:spPr>
          <a:xfrm>
            <a:off x="2834640" y="2834640"/>
            <a:ext cx="347472" cy="347472"/>
          </a:xfrm>
          <a:prstGeom prst="ellipse">
            <a:avLst/>
          </a:prstGeom>
          <a:solidFill>
            <a:schemeClr val="accent1"/>
          </a:solidFill>
          <a:ln w="12700">
            <a:solidFill>
              <a:schemeClr val="accent1"/>
            </a:solidFill>
            <a:prstDash val="solid"/>
          </a:ln>
        </p:spPr>
      </p:sp>
      <p:sp>
        <p:nvSpPr>
          <p:cNvPr id="19" name="Text 16"/>
          <p:cNvSpPr txBox="1"/>
          <p:nvPr/>
        </p:nvSpPr>
        <p:spPr>
          <a:xfrm>
            <a:off x="2834640" y="283464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0" name="Text 17"/>
          <p:cNvSpPr txBox="1"/>
          <p:nvPr/>
        </p:nvSpPr>
        <p:spPr>
          <a:xfrm>
            <a:off x="3337560" y="2788920"/>
            <a:ext cx="5349240" cy="320040"/>
          </a:xfrm>
          <a:prstGeom prst="rect">
            <a:avLst/>
          </a:prstGeom>
          <a:noFill/>
          <a:ln/>
        </p:spPr>
        <p:txBody>
          <a:bodyPr wrap="square" lIns="0" tIns="0" rIns="0" bIns="0" rtlCol="0" anchor="t"/>
          <a:lstStyle/>
          <a:p>
            <a:pPr indent="0" marL="0">
              <a:buNone/>
            </a:pPr>
            <a:r>
              <a:rPr lang="en-US" sz="1500" b="1" dirty="0">
                <a:solidFill>
                  <a:schemeClr val="bg1"/>
                </a:solidFill>
              </a:rPr>
              <a:t>Rules check the language model</a:t>
            </a:r>
            <a:endParaRPr lang="en-US" sz="1500" dirty="0"/>
          </a:p>
        </p:txBody>
      </p:sp>
      <p:sp>
        <p:nvSpPr>
          <p:cNvPr id="21" name="Text 18"/>
          <p:cNvSpPr txBox="1"/>
          <p:nvPr/>
        </p:nvSpPr>
        <p:spPr>
          <a:xfrm>
            <a:off x="3337560" y="3108960"/>
            <a:ext cx="5349240" cy="411480"/>
          </a:xfrm>
          <a:prstGeom prst="rect">
            <a:avLst/>
          </a:prstGeom>
          <a:noFill/>
          <a:ln/>
        </p:spPr>
        <p:txBody>
          <a:bodyPr wrap="square" lIns="0" tIns="0" rIns="0" bIns="0" rtlCol="0" anchor="t"/>
          <a:lstStyle/>
          <a:p>
            <a:pPr indent="0" marL="0">
              <a:buNone/>
            </a:pPr>
            <a:r>
              <a:rPr lang="en-US" sz="1250" dirty="0">
                <a:solidFill>
                  <a:schemeClr val="bg2"/>
                </a:solidFill>
              </a:rPr>
              <a:t>simple transcript checks caught a missing climax and a character named too early; BLEU needs baselines and a factual review</a:t>
            </a:r>
            <a:endParaRPr lang="en-US" sz="1250" dirty="0"/>
          </a:p>
        </p:txBody>
      </p:sp>
      <p:sp>
        <p:nvSpPr>
          <p:cNvPr id="22" name="badge 4"/>
          <p:cNvSpPr/>
          <p:nvPr/>
        </p:nvSpPr>
        <p:spPr>
          <a:xfrm>
            <a:off x="2834640" y="3703320"/>
            <a:ext cx="347472" cy="347472"/>
          </a:xfrm>
          <a:prstGeom prst="ellipse">
            <a:avLst/>
          </a:prstGeom>
          <a:solidFill>
            <a:schemeClr val="accent1"/>
          </a:solidFill>
          <a:ln w="12700">
            <a:solidFill>
              <a:schemeClr val="accent1"/>
            </a:solidFill>
            <a:prstDash val="solid"/>
          </a:ln>
        </p:spPr>
      </p:sp>
      <p:sp>
        <p:nvSpPr>
          <p:cNvPr id="23" name="Text 20"/>
          <p:cNvSpPr txBox="1"/>
          <p:nvPr/>
        </p:nvSpPr>
        <p:spPr>
          <a:xfrm>
            <a:off x="2834640" y="370332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4" name="Text 21"/>
          <p:cNvSpPr txBox="1"/>
          <p:nvPr/>
        </p:nvSpPr>
        <p:spPr>
          <a:xfrm>
            <a:off x="3337560" y="3657600"/>
            <a:ext cx="5349240" cy="320040"/>
          </a:xfrm>
          <a:prstGeom prst="rect">
            <a:avLst/>
          </a:prstGeom>
          <a:noFill/>
          <a:ln/>
        </p:spPr>
        <p:txBody>
          <a:bodyPr wrap="square" lIns="0" tIns="0" rIns="0" bIns="0" rtlCol="0" anchor="t"/>
          <a:lstStyle/>
          <a:p>
            <a:pPr indent="0" marL="0">
              <a:buNone/>
            </a:pPr>
            <a:r>
              <a:rPr lang="en-US" sz="1500" b="1" dirty="0">
                <a:solidFill>
                  <a:schemeClr val="bg1"/>
                </a:solidFill>
              </a:rPr>
              <a:t>Next steps</a:t>
            </a:r>
            <a:endParaRPr lang="en-US" sz="1500" dirty="0"/>
          </a:p>
        </p:txBody>
      </p:sp>
      <p:sp>
        <p:nvSpPr>
          <p:cNvPr id="25" name="Text 22"/>
          <p:cNvSpPr txBox="1"/>
          <p:nvPr/>
        </p:nvSpPr>
        <p:spPr>
          <a:xfrm>
            <a:off x="3337560" y="3977640"/>
            <a:ext cx="5349240" cy="411480"/>
          </a:xfrm>
          <a:prstGeom prst="rect">
            <a:avLst/>
          </a:prstGeom>
          <a:noFill/>
          <a:ln/>
        </p:spPr>
        <p:txBody>
          <a:bodyPr wrap="square" lIns="0" tIns="0" rIns="0" bIns="0" rtlCol="0" anchor="t"/>
          <a:lstStyle/>
          <a:p>
            <a:pPr indent="0" marL="0">
              <a:buNone/>
            </a:pPr>
            <a:r>
              <a:rPr lang="en-US" sz="1250" dirty="0">
                <a:solidFill>
                  <a:schemeClr val="bg2"/>
                </a:solidFill>
              </a:rPr>
              <a:t>speaker diarisation, CLIP frame matching, a FastAPI service</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ilm Noir Amber">
  <a:themeElements>
    <a:clrScheme name="Film Noir Amber">
      <a:dk1>
        <a:srgbClr val="141414"/>
      </a:dk1>
      <a:lt1>
        <a:srgbClr val="FFFFFF"/>
      </a:lt1>
      <a:dk2>
        <a:srgbClr val="2B2B2B"/>
      </a:dk2>
      <a:lt2>
        <a:srgbClr val="F2F1EE"/>
      </a:lt2>
      <a:accent1>
        <a:srgbClr val="E8A33D"/>
      </a:accent1>
      <a:accent2>
        <a:srgbClr val="2A78D6"/>
      </a:accent2>
      <a:accent3>
        <a:srgbClr val="1BAF7A"/>
      </a:accent3>
      <a:accent4>
        <a:srgbClr val="EB6834"/>
      </a:accent4>
      <a:accent5>
        <a:srgbClr val="8A8984"/>
      </a:accent5>
      <a:accent6>
        <a:srgbClr val="4A3AA7"/>
      </a:accent6>
      <a:hlink>
        <a:srgbClr val="2A78D6"/>
      </a:hlink>
      <a:folHlink>
        <a:srgbClr val="4A3AA7"/>
      </a:folHlink>
    </a:clrScheme>
    <a:fontScheme name="Film Noir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Movie Recap</dc:title>
  <dc:subject>AI11 Module 8 Assignment 1</dc:subject>
  <dc:creator>Karthikeyan K</dc:creator>
  <cp:lastModifiedBy>Karthikeyan K</cp:lastModifiedBy>
  <cp:revision>1</cp:revision>
  <dcterms:created xsi:type="dcterms:W3CDTF">2026-10-15T13:33:18Z</dcterms:created>
  <dcterms:modified xsi:type="dcterms:W3CDTF">2026-10-15T13:33:18Z</dcterms:modified>
</cp:coreProperties>
</file>